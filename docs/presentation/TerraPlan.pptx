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3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769c879daee4743" /><Relationship Type="http://schemas.openxmlformats.org/officeDocument/2006/relationships/extended-properties" Target="/docProps/app.xml" Id="R7d27ac73a0a34d8b" /><Relationship Type="http://schemas.openxmlformats.org/officeDocument/2006/relationships/officeDocument" Target="/ppt/presentation.xml" Id="R6f341bc8d0e54a7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023d563f7ff4921"/>
  </p:sldMasterIdLst>
  <p:notesMasterIdLst>
    <p:notesMasterId xmlns:r="http://schemas.openxmlformats.org/officeDocument/2006/relationships" r:id="R21a948751204462d"/>
  </p:notesMasterIdLst>
  <p:sldIdLst>
    <p:sldId xmlns:r="http://schemas.openxmlformats.org/officeDocument/2006/relationships" id="256" r:id="R15053188c359436b"/>
    <p:sldId xmlns:r="http://schemas.openxmlformats.org/officeDocument/2006/relationships" id="257" r:id="R44b923eed6144a09"/>
    <p:sldId xmlns:r="http://schemas.openxmlformats.org/officeDocument/2006/relationships" id="258" r:id="R31f42144eab149de"/>
    <p:sldId xmlns:r="http://schemas.openxmlformats.org/officeDocument/2006/relationships" id="259" r:id="R493f4c2679214315"/>
    <p:sldId xmlns:r="http://schemas.openxmlformats.org/officeDocument/2006/relationships" id="260" r:id="R554e14916dfe40cb"/>
    <p:sldId xmlns:r="http://schemas.openxmlformats.org/officeDocument/2006/relationships" id="261" r:id="Rc32323d9c22e4ac3"/>
    <p:sldId xmlns:r="http://schemas.openxmlformats.org/officeDocument/2006/relationships" id="262" r:id="R14af91ec1f564223"/>
    <p:sldId xmlns:r="http://schemas.openxmlformats.org/officeDocument/2006/relationships" id="263" r:id="R8537768d8f3b43f9"/>
    <p:sldId xmlns:r="http://schemas.openxmlformats.org/officeDocument/2006/relationships" id="264" r:id="R407982ae1d6b4119"/>
    <p:sldId xmlns:r="http://schemas.openxmlformats.org/officeDocument/2006/relationships" id="265" r:id="R0d5f49da9c0b4fbe"/>
    <p:sldId xmlns:r="http://schemas.openxmlformats.org/officeDocument/2006/relationships" id="266" r:id="Rb9140e545f684ddb"/>
    <p:sldId xmlns:r="http://schemas.openxmlformats.org/officeDocument/2006/relationships" id="267" r:id="R3f6c89bbc731491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a02d81b7e464949" /><Relationship Type="http://schemas.openxmlformats.org/officeDocument/2006/relationships/slideMaster" Target="/ppt/slideMasters/slideMaster1.xml" Id="R2023d563f7ff4921" /><Relationship Type="http://schemas.openxmlformats.org/officeDocument/2006/relationships/notesMaster" Target="/ppt/notesMasters/notesMaster1.xml" Id="R21a948751204462d" /><Relationship Type="http://schemas.openxmlformats.org/officeDocument/2006/relationships/presProps" Target="/ppt/presProps.xml" Id="R5b3112f2d2d4475c" /><Relationship Type="http://schemas.openxmlformats.org/officeDocument/2006/relationships/tableStyles" Target="/ppt/tableStyles.xml" Id="R65ef44703b2b455e" /><Relationship Type="http://schemas.openxmlformats.org/officeDocument/2006/relationships/slide" Target="/ppt/slides/slide1.xml" Id="R15053188c359436b" /><Relationship Type="http://schemas.openxmlformats.org/officeDocument/2006/relationships/slide" Target="/ppt/slides/slide2.xml" Id="R44b923eed6144a09" /><Relationship Type="http://schemas.openxmlformats.org/officeDocument/2006/relationships/slide" Target="/ppt/slides/slide3.xml" Id="R31f42144eab149de" /><Relationship Type="http://schemas.openxmlformats.org/officeDocument/2006/relationships/slide" Target="/ppt/slides/slide4.xml" Id="R493f4c2679214315" /><Relationship Type="http://schemas.openxmlformats.org/officeDocument/2006/relationships/slide" Target="/ppt/slides/slide5.xml" Id="R554e14916dfe40cb" /><Relationship Type="http://schemas.openxmlformats.org/officeDocument/2006/relationships/slide" Target="/ppt/slides/slide6.xml" Id="Rc32323d9c22e4ac3" /><Relationship Type="http://schemas.openxmlformats.org/officeDocument/2006/relationships/slide" Target="/ppt/slides/slide7.xml" Id="R14af91ec1f564223" /><Relationship Type="http://schemas.openxmlformats.org/officeDocument/2006/relationships/slide" Target="/ppt/slides/slide8.xml" Id="R8537768d8f3b43f9" /><Relationship Type="http://schemas.openxmlformats.org/officeDocument/2006/relationships/slide" Target="/ppt/slides/slide9.xml" Id="R407982ae1d6b4119" /><Relationship Type="http://schemas.openxmlformats.org/officeDocument/2006/relationships/slide" Target="/ppt/slides/slide10.xml" Id="R0d5f49da9c0b4fbe" /><Relationship Type="http://schemas.openxmlformats.org/officeDocument/2006/relationships/slide" Target="/ppt/slides/slide11.xml" Id="Rb9140e545f684ddb" /><Relationship Type="http://schemas.openxmlformats.org/officeDocument/2006/relationships/slide" Target="/ppt/slides/slide12.xml" Id="R3f6c89bbc731491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10b100628124a8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466461632bd4d9e" /><Relationship Type="http://schemas.openxmlformats.org/officeDocument/2006/relationships/notesMaster" Target="/ppt/notesMasters/notesMaster1.xml" Id="R4dbfbb3b93a946e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722f688f5844105" /><Relationship Type="http://schemas.openxmlformats.org/officeDocument/2006/relationships/notesMaster" Target="/ppt/notesMasters/notesMaster1.xml" Id="Rd68ef8c3a9914e1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2109ca5d63442f3" /><Relationship Type="http://schemas.openxmlformats.org/officeDocument/2006/relationships/notesMaster" Target="/ppt/notesMasters/notesMaster1.xml" Id="R487e0ea4f19949d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99e36e0d3f54744" /><Relationship Type="http://schemas.openxmlformats.org/officeDocument/2006/relationships/notesMaster" Target="/ppt/notesMasters/notesMaster1.xml" Id="R82f15a1bdf9b447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a149a24f4fa4b44" /><Relationship Type="http://schemas.openxmlformats.org/officeDocument/2006/relationships/notesMaster" Target="/ppt/notesMasters/notesMaster1.xml" Id="R92b819a413a94f8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4e00a7c69044633" /><Relationship Type="http://schemas.openxmlformats.org/officeDocument/2006/relationships/notesMaster" Target="/ppt/notesMasters/notesMaster1.xml" Id="R9684aa7360e346a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18c334f296d4788" /><Relationship Type="http://schemas.openxmlformats.org/officeDocument/2006/relationships/notesMaster" Target="/ppt/notesMasters/notesMaster1.xml" Id="R0645b6283d9640b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c01789dc0a145db" /><Relationship Type="http://schemas.openxmlformats.org/officeDocument/2006/relationships/notesMaster" Target="/ppt/notesMasters/notesMaster1.xml" Id="R100d4744d1ed414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31f46398b6e4758" /><Relationship Type="http://schemas.openxmlformats.org/officeDocument/2006/relationships/notesMaster" Target="/ppt/notesMasters/notesMaster1.xml" Id="Rb4d1135b3e0b44f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b6f96c027674bb9" /><Relationship Type="http://schemas.openxmlformats.org/officeDocument/2006/relationships/notesMaster" Target="/ppt/notesMasters/notesMaster1.xml" Id="R930f2963ce7f4ed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fa9ed063b26443e" /><Relationship Type="http://schemas.openxmlformats.org/officeDocument/2006/relationships/notesMaster" Target="/ppt/notesMasters/notesMaster1.xml" Id="R8a8eb348cebb495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4e55232aab24a49" /><Relationship Type="http://schemas.openxmlformats.org/officeDocument/2006/relationships/notesMaster" Target="/ppt/notesMasters/notesMaster1.xml" Id="R0afe267ed04a402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в репозитории: docs/CASE_SUMMARY.md; docs/TEAM.md. Все денежные показатели в млн условных единиц, постоянные цены 2035 г. Значения диаграмм округлены до целого, исходные точные значения сохранены в result.json.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в репозитории: data/case/demand.csv; data/case/constraints.csv. Все денежные показатели в млн условных единиц, постоянные цены 2035 г. Значения диаграмм округлены до целого, исходные точные значения сохранены в result.json.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в репозитории: docs/architecture.md; src/terraplan/engine.py; configs/assumptions.yaml. Все денежные показатели в млн условных единиц, постоянные цены 2035 г. Значения диаграмм округлены до целого, исходные точные значения сохранены в result.json.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в репозитории: data/case/supply_sources.csv; data/case/investment_options.csv; data/case/storage_options.csv. Все денежные показатели в млн условных единиц, постоянные цены 2035 г. Значения диаграмм округлены до целого, исходные точные значения сохранены в result.json.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в репозитории: results/alternatives/*_BASE/result.json. Все денежные показатели в млн условных единиц, постоянные цены 2035 г. Значения диаграмм округлены до целого, исходные точные значения сохранены в result.json.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в репозитории: results/alternatives/P3_isru_zbo_MANDATORY_STRESS/result.json; configs/scenarios/mandatory_stress.yaml. Все денежные показатели в млн условных единиц, постоянные цены 2035 г. Значения диаграмм округлены до целого, исходные точные значения сохранены в result.json.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в репозитории: results/alternatives/P3_isru_zbo_BASE/result.json; results/alternatives/P3_isru_zbo_MANDATORY_STRESS/result.json; results/stress/P3_isru_zbo_adapted_MANDATORY_STRESS/result.json. Все денежные показатели в млн условных единиц, постоянные цены 2035 г. Значения диаграмм округлены до целого, исходные точные значения сохранены в result.json.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в репозитории: results/reaction/summary.md; results/monte_carlo/summary.md; docs/risk_register.md; docs/stakeholders.md. Все денежные показатели в млн условных единиц, постоянные цены 2035 г. Значения диаграмм округлены до целого, исходные точные значения сохранены в result.json.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в репозитории: src/terraplan/web.py; src/terraplan/static/; docs/operator_guide.md. Все денежные показатели в млн условных единиц, постоянные цены 2035 г. Значения диаграмм округлены до целого, исходные точные значения сохранены в result.json.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в репозитории: results/extensibility/run/result.json; experiments/run_extensibility.py; tests/test_web.py. Все денежные показатели в млн условных единиц, постоянные цены 2035 г. Значения диаграмм округлены до целого, исходные точные значения сохранены в result.json.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в репозитории: results/alternatives/P3_isru_zbo_BASE/financial_breakdown.csv; docs/roadmap_budget.md. Все денежные показатели в млн условных единиц, постоянные цены 2035 г. Значения диаграмм округлены до целого, исходные точные значения сохранены в result.json.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в репозитории: README.md; docs/operator_guide.md; docs/HANDOVER.md. Все денежные показатели в млн условных единиц, постоянные цены 2035 г. Значения диаграмм округлены до целого, исходные точные значения сохранены в result.json.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d3c95456ff4ca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2b914cda20e44a8" /><Relationship Type="http://schemas.openxmlformats.org/officeDocument/2006/relationships/slideLayout" Target="/ppt/slideLayouts/slideLayout1.xml" Id="R151a49f27fbf493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51a49f27fbf493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4750730da6451c" /><Relationship Type="http://schemas.openxmlformats.org/officeDocument/2006/relationships/notesSlide" Target="/ppt/notesSlides/notesSlide1.xml" Id="Rb87e43a0c53b414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f5173ceb9d4deb" /><Relationship Type="http://schemas.openxmlformats.org/officeDocument/2006/relationships/notesSlide" Target="/ppt/notesSlides/notesSlide2.xml" Id="Rbdea56fe131d4bb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bccea96577426e" /><Relationship Type="http://schemas.openxmlformats.org/officeDocument/2006/relationships/notesSlide" Target="/ppt/notesSlides/notesSlide3.xml" Id="R3d00de0afe474a7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4f34625d734040" /><Relationship Type="http://schemas.openxmlformats.org/officeDocument/2006/relationships/notesSlide" Target="/ppt/notesSlides/notesSlide4.xml" Id="R27ef7ae12187468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550e41166843c9" /><Relationship Type="http://schemas.openxmlformats.org/officeDocument/2006/relationships/chart" Target="/ppt/slides/charts/chart1.xml" Id="Rb04831d5001f4741" /><Relationship Type="http://schemas.openxmlformats.org/officeDocument/2006/relationships/notesSlide" Target="/ppt/notesSlides/notesSlide5.xml" Id="R5bd4d5a1404f48a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cc24caf98f4f53" /><Relationship Type="http://schemas.openxmlformats.org/officeDocument/2006/relationships/notesSlide" Target="/ppt/notesSlides/notesSlide6.xml" Id="Red51221da2ae4bc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018fcc442445ff" /><Relationship Type="http://schemas.openxmlformats.org/officeDocument/2006/relationships/chart" Target="/ppt/slides/charts/chart2.xml" Id="Rd3a6c5b17a734422" /><Relationship Type="http://schemas.openxmlformats.org/officeDocument/2006/relationships/notesSlide" Target="/ppt/notesSlides/notesSlide7.xml" Id="R6451e66642f2444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f1a926fd9646b8" /><Relationship Type="http://schemas.openxmlformats.org/officeDocument/2006/relationships/notesSlide" Target="/ppt/notesSlides/notesSlide8.xml" Id="R5370e6c666aa410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6c9023c43243f3" /><Relationship Type="http://schemas.openxmlformats.org/officeDocument/2006/relationships/notesSlide" Target="/ppt/notesSlides/notesSlide9.xml" Id="R4ece99dbfd2940d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5e9e3f99b2409c" /><Relationship Type="http://schemas.openxmlformats.org/officeDocument/2006/relationships/notesSlide" Target="/ppt/notesSlides/notesSlide10.xml" Id="Rcfccd1fdce3949c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123780a8cb4997" /><Relationship Type="http://schemas.openxmlformats.org/officeDocument/2006/relationships/chart" Target="/ppt/slides/charts/chart3.xml" Id="Rc8d82aaa69d64505" /><Relationship Type="http://schemas.openxmlformats.org/officeDocument/2006/relationships/notesSlide" Target="/ppt/notesSlides/notesSlide11.xml" Id="R9d9cf14b26514e4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2d851388914fb3" /><Relationship Type="http://schemas.openxmlformats.org/officeDocument/2006/relationships/notesSlide" Target="/ppt/notesSlides/notesSlide12.xml" Id="R7076f1a455064673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PV, млн у.е.</c:v>
          </c:tx>
          <c:spPr>
            <a:solidFill xmlns:a="http://schemas.openxmlformats.org/drawingml/2006/main">
              <a:srgbClr val="176A5B"/>
            </a:solidFill>
          </c:spPr>
          <c:cat>
            <c:strRef>
              <c:f>'Chart Data'!$A$2:$A$5</c:f>
              <c:strCache>
                <c:ptCount val="4"/>
                <c:pt idx="0">
                  <c:v>P2 New</c:v>
                </c:pt>
                <c:pt idx="1">
                  <c:v>P2z New + ZBO</c:v>
                </c:pt>
                <c:pt idx="2">
                  <c:v>P3 ISRU + ZBO</c:v>
                </c:pt>
                <c:pt idx="3">
                  <c:v>P4 полный</c:v>
                </c:pt>
              </c:strCache>
            </c:strRef>
          </c:cat>
          <c:val>
            <c:numRef>
              <c:f>'Chart Data'!$B$2:$B$5</c:f>
              <c:numCache>
                <c:formatCode>#,##0</c:formatCode>
                <c:ptCount val="4"/>
                <c:pt idx="0">
                  <c:v>8780</c:v>
                </c:pt>
                <c:pt idx="1">
                  <c:v>8729</c:v>
                </c:pt>
                <c:pt idx="2">
                  <c:v>8639</c:v>
                </c:pt>
                <c:pt idx="3">
                  <c:v>8858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PV, млн у.е.</c:v>
          </c:tx>
          <c:spPr>
            <a:solidFill xmlns:a="http://schemas.openxmlformats.org/drawingml/2006/main">
              <a:srgbClr val="176A5B"/>
            </a:solidFill>
          </c:spPr>
          <c:cat>
            <c:strRef>
              <c:f>'Chart Data'!$A$2:$A$4</c:f>
              <c:strCache>
                <c:ptCount val="3"/>
                <c:pt idx="0">
                  <c:v>BASE</c:v>
                </c:pt>
                <c:pt idx="1">
                  <c:v>Стресс, план прежний</c:v>
                </c:pt>
                <c:pt idx="2">
                  <c:v>Стресс, адаптация</c:v>
                </c:pt>
              </c:strCache>
            </c:strRef>
          </c:cat>
          <c:val>
            <c:numRef>
              <c:f>'Chart Data'!$B$2:$B$4</c:f>
              <c:numCache>
                <c:formatCode>#,##0</c:formatCode>
                <c:ptCount val="3"/>
                <c:pt idx="0">
                  <c:v>8639</c:v>
                </c:pt>
                <c:pt idx="1">
                  <c:v>9032</c:v>
                </c:pt>
                <c:pt idx="2">
                  <c:v>10637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Всего, млн</c:v>
          </c:tx>
          <c:spPr>
            <a:solidFill xmlns:a="http://schemas.openxmlformats.org/drawingml/2006/main">
              <a:srgbClr val="176A5B"/>
            </a:solidFill>
          </c:spPr>
          <c:cat>
            <c:numRef>
              <c:f>'Chart Data'!$A$2:$A$7</c:f>
              <c:numCache>
                <c:formatCode>General</c:formatCode>
                <c:ptCount val="6"/>
                <c:pt idx="0">
                  <c:v>2035</c:v>
                </c:pt>
                <c:pt idx="1">
                  <c:v>2036</c:v>
                </c:pt>
                <c:pt idx="2">
                  <c:v>2037</c:v>
                </c:pt>
                <c:pt idx="3">
                  <c:v>2038</c:v>
                </c:pt>
                <c:pt idx="4">
                  <c:v>2039</c:v>
                </c:pt>
                <c:pt idx="5">
                  <c:v>2040</c:v>
                </c:pt>
              </c:numCache>
            </c:numRef>
          </c:cat>
          <c:val>
            <c:numRef>
              <c:f>'Chart Data'!$B$2:$B$7</c:f>
              <c:numCache>
                <c:formatCode>#,##0</c:formatCode>
                <c:ptCount val="6"/>
                <c:pt idx="0">
                  <c:v>858</c:v>
                </c:pt>
                <c:pt idx="1">
                  <c:v>2282</c:v>
                </c:pt>
                <c:pt idx="2">
                  <c:v>1588</c:v>
                </c:pt>
                <c:pt idx="3">
                  <c:v>1477</c:v>
                </c:pt>
                <c:pt idx="4">
                  <c:v>1942</c:v>
                </c:pt>
                <c:pt idx="5">
                  <c:v>2507</c:v>
                </c:pt>
              </c:numCache>
            </c:numRef>
          </c:val>
        </c:ser>
        <c:ser>
          <c:idx val="1"/>
          <c:order val="1"/>
          <c:tx>
            <c:v>CAPEX, млн (в составе итого)</c:v>
          </c:tx>
          <c:spPr>
            <a:solidFill xmlns:a="http://schemas.openxmlformats.org/drawingml/2006/main">
              <a:srgbClr val="D5A747"/>
            </a:solidFill>
          </c:spPr>
          <c:cat>
            <c:numRef>
              <c:f>'Chart Data'!$C$2:$C$7</c:f>
              <c:numCache>
                <c:formatCode>General</c:formatCode>
                <c:ptCount val="6"/>
                <c:pt idx="0">
                  <c:v>2035</c:v>
                </c:pt>
                <c:pt idx="1">
                  <c:v>2036</c:v>
                </c:pt>
                <c:pt idx="2">
                  <c:v>2037</c:v>
                </c:pt>
                <c:pt idx="3">
                  <c:v>2038</c:v>
                </c:pt>
                <c:pt idx="4">
                  <c:v>2039</c:v>
                </c:pt>
                <c:pt idx="5">
                  <c:v>2040</c:v>
                </c:pt>
              </c:numCache>
            </c:numRef>
          </c:cat>
          <c:val>
            <c:numRef>
              <c:f>'Chart Data'!$D$2:$D$7</c:f>
              <c:numCache>
                <c:formatCode>#,##0</c:formatCode>
                <c:ptCount val="6"/>
                <c:pt idx="0">
                  <c:v>0</c:v>
                </c:pt>
                <c:pt idx="1">
                  <c:v>1250</c:v>
                </c:pt>
                <c:pt idx="2">
                  <c:v>180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725"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2F3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2420E1-7802-4DB7-AA14-2B9F90B7C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TerraPlan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E21967-F3D6-43D4-A7C3-97D84B4F7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622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D0E3D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D0E3DF"/>
                </a:solidFill>
                <a:latin typeface="Arial"/>
                <a:ea typeface="Arial"/>
                <a:cs typeface="Arial"/>
              </a:rPr>
              <a:t>Топливное снабжение орбитального узла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308A38-FBE2-4DE5-92C0-9816372D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9567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D0E3D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D0E3DF"/>
                </a:solidFill>
                <a:latin typeface="Arial"/>
                <a:ea typeface="Arial"/>
                <a:cs typeface="Arial"/>
              </a:rPr>
              <a:t>2035–2040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C13D73-91BC-4714-94C7-7EF266518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291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D0E3D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D0E3DF"/>
                </a:solidFill>
                <a:latin typeface="Arial"/>
                <a:ea typeface="Arial"/>
                <a:cs typeface="Arial"/>
              </a:rPr>
              <a:t>CosmoHackathon 2026 · Кейс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A13465-92A1-4DF5-B393-09B4A8E14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809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0E3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0E3DF"/>
                </a:solidFill>
                <a:latin typeface="Arial"/>
                <a:ea typeface="Arial"/>
                <a:cs typeface="Arial"/>
              </a:rPr>
              <a:t>1 / 12</a:t>
            </a:r>
          </a:p>
        </p:txBody>
      </p:sp>
    </p:spTree>
    <p:extLst>
      <p:ext uri="{BB962C8B-B14F-4D97-AF65-F5344CB8AC3E}">
        <p14:creationId xmlns:p14="http://schemas.microsoft.com/office/powerpoint/2010/main" val="134977912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F24C35-4834-40FF-8972-396853B35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B40"/>
                </a:solidFill>
                <a:latin typeface="Arial"/>
                <a:ea typeface="Arial"/>
                <a:cs typeface="Arial"/>
              </a:rPr>
              <a:t>Задача оператора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D5A675-7425-4767-9DB5-72F238C90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Спрос растёт со 100 до 390 т/год.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2D75F2-9ECF-4E21-9CE1-C97ABC7C1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4317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Физический резерв покрывает 45 дней спроса.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3D19EF-1B8A-45B8-B0CD-8C64D99FB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Общий сервис ≥ 97 %, критический ≥ 99 % в BASE.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6E69A1-A199-4213-BD10-FA93DE3DB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002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CAPEX: ≤ 1 800 млн до 2037, ≤ 2 800 млн до 2040.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05FB6D-FC27-4C88-904F-B58EC338F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809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A80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A807A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</p:spTree>
    <p:extLst>
      <p:ext uri="{BB962C8B-B14F-4D97-AF65-F5344CB8AC3E}">
        <p14:creationId xmlns:p14="http://schemas.microsoft.com/office/powerpoint/2010/main" val="42889892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C06481-5549-4917-AEC5-62DFB0CC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B40"/>
                </a:solidFill>
                <a:latin typeface="Arial"/>
                <a:ea typeface="Arial"/>
                <a:cs typeface="Arial"/>
              </a:rPr>
              <a:t>Помесячный баланс и стоимость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2BCD23-DA75-4528-9F9E-9086CB3B4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Запас на конец = запас на начало + поставки − потери − выдача.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E997A7-C68B-4320-BC24-C35F2CBB3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4317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Потери начисляются один раз на валовый входящий поток.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8614B2-BAA4-4C0B-8BC0-1EFAC7E26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Стоимость = закупка + резерв мощности + хранение + OPEX + CAPEX.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3DBD89-0FF5-4976-B681-7B06352FB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002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PV: реальная ставка 8 %, цены 2035 г. Единая база для альтернатив.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17489C-46F4-44C0-B971-66021F444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809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A80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A807A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</p:spTree>
    <p:extLst>
      <p:ext uri="{BB962C8B-B14F-4D97-AF65-F5344CB8AC3E}">
        <p14:creationId xmlns:p14="http://schemas.microsoft.com/office/powerpoint/2010/main" val="11148426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11F395-2695-418E-9CD5-196D9108F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B40"/>
                </a:solidFill>
                <a:latin typeface="Arial"/>
                <a:ea typeface="Arial"/>
                <a:cs typeface="Arial"/>
              </a:rPr>
              <a:t>Контракты и инвестиции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5E03FB-FB7E-4624-9C9C-04AE91F11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Earth-Core: 190 т/год, 12 месяцев, take-or-pay 70 %.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2A2FA9-1866-48A7-8A23-F689E7A43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4317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Earth-Flex: 110 т/год, 4 месяца. Emergency: 80 т/год, 6 недель.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652C1C-6876-4692-964F-889D84804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Earth-New: CAPEX 360 млн. ISRU: 1 250 млн, доступен с 2038.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ED864F-1004-4C8A-B002-9D1057D99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002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ZBO: CAPEX 180 млн, потери 1,2 % вместо 4,5 %.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E7B30A-BA7C-4E7B-ACAB-735A46772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809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A80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A807A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</p:spTree>
    <p:extLst>
      <p:ext uri="{BB962C8B-B14F-4D97-AF65-F5344CB8AC3E}">
        <p14:creationId xmlns:p14="http://schemas.microsoft.com/office/powerpoint/2010/main" val="34098883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485657-3B0E-4FFB-81EB-B045AA7D4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B40"/>
                </a:solidFill>
                <a:latin typeface="Arial"/>
                <a:ea typeface="Arial"/>
                <a:cs typeface="Arial"/>
              </a:rPr>
              <a:t>Сравнение исполнимых планов в BASE</a:t>
            </a:r>
          </a:p>
        </p:txBody>
      </p:sp>
      <p:graphicFrame>
        <p:nvGraphicFramePr>
          <p:cNvPr id="6" name="Chart"/>
          <p:cNvGraphicFramePr/>
          <p:nvPr/>
        </p:nvGraphicFramePr>
        <p:xfrm>
          <a:off xmlns:a="http://schemas.openxmlformats.org/drawingml/2006/main" x="714375" y="1600200"/>
          <a:ext xmlns:a="http://schemas.openxmlformats.org/drawingml/2006/main" cx="10668000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04831d5001f4741"/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32DC05-4126-48CD-A802-17FF1850E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67350"/>
            <a:ext cx="10572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B40"/>
                </a:solidFill>
                <a:latin typeface="Arial"/>
                <a:ea typeface="Arial"/>
                <a:cs typeface="Arial"/>
              </a:rPr>
              <a:t>P1 не проходит ограничения и исключён из ценового ранжирования.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C29A5E-952E-454C-9C68-C5BB32AC0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809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A80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A807A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</p:spTree>
    <p:extLst>
      <p:ext uri="{BB962C8B-B14F-4D97-AF65-F5344CB8AC3E}">
        <p14:creationId xmlns:p14="http://schemas.microsoft.com/office/powerpoint/2010/main" val="3277699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952DF4-2D64-4269-AC85-B63CD4DA7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B40"/>
                </a:solidFill>
                <a:latin typeface="Arial"/>
                <a:ea typeface="Arial"/>
                <a:cs typeface="Arial"/>
              </a:rPr>
              <a:t>P3 в обязательном стрессе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E89F25-6F31-48B3-992D-0ABA329FF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Неизменный план: дефицит 170.0 т.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E7BD6B-F13B-4561-A05D-D76EAF5C8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4317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Нарушения резерва: 2038, 2039, 2040.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195307-660C-44B2-84F9-F38EE6C04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Спрос +15 % с 2038. Цены A/B +25 % в 2038–2039.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C4B635-FFBA-489F-A365-2F78A60B7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002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Поставка ISRU: 55 % в 2038 и 75 % в 2039, без повторного множителя надёжности.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953F76-04F2-43AA-A199-9C1B7B904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809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A80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A807A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</p:spTree>
    <p:extLst>
      <p:ext uri="{BB962C8B-B14F-4D97-AF65-F5344CB8AC3E}">
        <p14:creationId xmlns:p14="http://schemas.microsoft.com/office/powerpoint/2010/main" val="8958096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3F8B7D-DC8E-42CF-99FA-54E0A8811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B40"/>
                </a:solidFill>
                <a:latin typeface="Arial"/>
                <a:ea typeface="Arial"/>
                <a:cs typeface="Arial"/>
              </a:rPr>
              <a:t>Заблаговременная адаптация P3</a:t>
            </a:r>
          </a:p>
        </p:txBody>
      </p:sp>
      <p:graphicFrame>
        <p:nvGraphicFramePr>
          <p:cNvPr id="6" name="Chart"/>
          <p:cNvGraphicFramePr/>
          <p:nvPr/>
        </p:nvGraphicFramePr>
        <p:xfrm>
          <a:off xmlns:a="http://schemas.openxmlformats.org/drawingml/2006/main" x="714375" y="1600200"/>
          <a:ext xmlns:a="http://schemas.openxmlformats.org/drawingml/2006/main" cx="10668000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3a6c5b17a734422"/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66D784-6928-471E-A001-E732F4B21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67350"/>
            <a:ext cx="10572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B40"/>
                </a:solidFill>
                <a:latin typeface="Arial"/>
                <a:ea typeface="Arial"/>
                <a:cs typeface="Arial"/>
              </a:rPr>
              <a:t>Адаптация: дефицит 0 т, жёстких нарушений 0. Это разные решения, не гарантия робастности.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C39BAF-C5CC-4A85-A116-F079E593E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809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A80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A807A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</p:spTree>
    <p:extLst>
      <p:ext uri="{BB962C8B-B14F-4D97-AF65-F5344CB8AC3E}">
        <p14:creationId xmlns:p14="http://schemas.microsoft.com/office/powerpoint/2010/main" val="41511948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C19A69-415D-4D7E-BC8A-B926C31A1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B40"/>
                </a:solidFill>
                <a:latin typeface="Arial"/>
                <a:ea typeface="Arial"/>
                <a:cs typeface="Arial"/>
              </a:rPr>
              <a:t>Риски и правила реакции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F65564-0244-42CF-ACD9-7CB92B764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Буфер запаса нужен до начала года: поздняя реакция не исправит резерв на 1 января.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271407-D4E1-4751-AC4B-FDC6F62FE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4317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Дозаказ Flex требует 4 месяцев, Emergency — 6 недель.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C3C014-8163-421B-B558-9F539BF41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EXP-07–10: обратный стресс, меры защиты, задержка Earth-New и Монте-Карло.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51891A-0A15-4787-A412-CA879D76C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002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Монте-Карло: N = 10 000, seed = 203510. Распределения TEAM_ASSUMPTION, вероятности не калиброваны.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195AB7-1BE0-47BB-91BC-CF17BFEE3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809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A80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A807A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</p:spTree>
    <p:extLst>
      <p:ext uri="{BB962C8B-B14F-4D97-AF65-F5344CB8AC3E}">
        <p14:creationId xmlns:p14="http://schemas.microsoft.com/office/powerpoint/2010/main" val="94472349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AAE3CA-32BC-4D36-8AA7-76E5B543E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B40"/>
                </a:solidFill>
                <a:latin typeface="Arial"/>
                <a:ea typeface="Arial"/>
                <a:cs typeface="Arial"/>
              </a:rPr>
              <a:t>Рабочий интерфейс оператора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4C2462-D70B-4223-87B5-3C2B47345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Редактор заказов, резервов, инвестиций и начального запаса.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DD37DF-D081-443C-B512-CDBE9EDAD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4317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Расчёт BASE и обязательного стресса через единый Python-движок.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8D663C-7DC5-4C35-B481-B546DF52C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Нарушения показывают год, факт, лимит и причину.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10EA79-DDFC-4572-9228-8394BDFC7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002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Сравнение двух расчётов с изменением решений и расходов.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D4E147-E151-4D54-A76A-41A5A6391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809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A80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A807A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</p:spTree>
    <p:extLst>
      <p:ext uri="{BB962C8B-B14F-4D97-AF65-F5344CB8AC3E}">
        <p14:creationId xmlns:p14="http://schemas.microsoft.com/office/powerpoint/2010/main" val="185539394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C84B0E-861D-430F-B6C7-5939A6744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B40"/>
                </a:solidFill>
                <a:latin typeface="Arial"/>
                <a:ea typeface="Arial"/>
                <a:cs typeface="Arial"/>
              </a:rPr>
              <a:t>Сохранение, выгрузка, расширение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0338C0-9E6C-4C15-92A3-1853846F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Рабочий JSON сохраняет план, сценарий, копию данных и допущения.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1906A3-B168-4C1B-8403-1C4521C07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4317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ZIP содержит CSV, XLSX, JSON, входные данные и хеши расчёта.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F01562-25C8-45BB-8913-E7874FF2E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Демонстрация: Source-X и 2041 год, 7 лет, PV 10 271 млн. Исполнимость: да.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3EB69D-F173-46C8-A9EB-0D426B9C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002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Source-X и спрос 2041 — TEAM_ASSUMPTION. Контрольные данные и ограничения сохранены.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3D45D4-8DD8-483D-81A2-B33BAEEF6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809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A80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A807A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</p:spTree>
    <p:extLst>
      <p:ext uri="{BB962C8B-B14F-4D97-AF65-F5344CB8AC3E}">
        <p14:creationId xmlns:p14="http://schemas.microsoft.com/office/powerpoint/2010/main" val="6062532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F8DD99-F793-406B-902F-61E004067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B40"/>
                </a:solidFill>
                <a:latin typeface="Arial"/>
                <a:ea typeface="Arial"/>
                <a:cs typeface="Arial"/>
              </a:rPr>
              <a:t>Бюджет P3 по годам</a:t>
            </a:r>
          </a:p>
        </p:txBody>
      </p:sp>
      <p:graphicFrame>
        <p:nvGraphicFramePr>
          <p:cNvPr id="6" name="Chart"/>
          <p:cNvGraphicFramePr/>
          <p:nvPr/>
        </p:nvGraphicFramePr>
        <p:xfrm>
          <a:off xmlns:a="http://schemas.openxmlformats.org/drawingml/2006/main" x="714375" y="1600200"/>
          <a:ext xmlns:a="http://schemas.openxmlformats.org/drawingml/2006/main" cx="10668000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8d82aaa69d64505"/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B456B2-B63B-4D28-A45E-4F53BCE91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67350"/>
            <a:ext cx="10572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B40"/>
                </a:solidFill>
                <a:latin typeface="Arial"/>
                <a:ea typeface="Arial"/>
                <a:cs typeface="Arial"/>
              </a:rPr>
              <a:t>ISRU: оплата 2036-01. ZBO: оплата 2037-07. CAPEX P3 до 2037: 1 430 млн.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BB639C-68C0-4648-A537-8F6800B30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809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A80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A807A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</p:spTree>
    <p:extLst>
      <p:ext uri="{BB962C8B-B14F-4D97-AF65-F5344CB8AC3E}">
        <p14:creationId xmlns:p14="http://schemas.microsoft.com/office/powerpoint/2010/main" val="84946425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B4E163-52E2-4376-9638-78856E5B1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B40"/>
                </a:solidFill>
                <a:latin typeface="Arial"/>
                <a:ea typeface="Arial"/>
                <a:cs typeface="Arial"/>
              </a:rPr>
              <a:t>Запуск и передача решения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9CF54E-9110-4181-9D9B-4F99CAEDA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python -m pip install -e ".[dev]"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784DF3-411E-430C-82AA-5348A22A3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4317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python -m terraplan ui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CE5DDF-68FA-4FB3-9A63-E2E14A661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Проверка: BASE, стресс, адаптация, сохранение, сравнение, Source-X / 2041.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78B0F3-C0D1-469C-885C-5B03DED25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002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Границы: локальный прототип, без оптимизатора и многопользовательского доступа.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C50294-7290-4A3A-838C-A0E0630C9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434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Код и инструкции готовы к передаче. Публикация на GitVerse ещё не выполнена.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D20ABD-223F-4914-92B7-A9F63DD3A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809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A80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A807A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</p:spTree>
    <p:extLst>
      <p:ext uri="{BB962C8B-B14F-4D97-AF65-F5344CB8AC3E}">
        <p14:creationId xmlns:p14="http://schemas.microsoft.com/office/powerpoint/2010/main" val="41603745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2026-09-18T23:54:23.3280000Z</dcterms:created>
  <dcterms:modified xsi:type="dcterms:W3CDTF">2026-09-18T23:54:23.3280000Z</dcterms:modified>
</coreProperties>
</file>