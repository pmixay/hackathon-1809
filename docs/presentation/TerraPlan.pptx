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c7f3ad784d4d1a" /><Relationship Type="http://schemas.openxmlformats.org/officeDocument/2006/relationships/extended-properties" Target="/docProps/app.xml" Id="Rb0549170367e4254" /><Relationship Type="http://schemas.openxmlformats.org/officeDocument/2006/relationships/officeDocument" Target="/ppt/presentation.xml" Id="Ra94cdbee6ad64b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f45324990f4fc6"/>
  </p:sldMasterIdLst>
  <p:notesMasterIdLst>
    <p:notesMasterId xmlns:r="http://schemas.openxmlformats.org/officeDocument/2006/relationships" r:id="Rb85f8279411d4f74"/>
  </p:notesMasterIdLst>
  <p:sldIdLst>
    <p:sldId xmlns:r="http://schemas.openxmlformats.org/officeDocument/2006/relationships" id="256" r:id="R681ccfb02e394586"/>
    <p:sldId xmlns:r="http://schemas.openxmlformats.org/officeDocument/2006/relationships" id="257" r:id="Ra0e4bb68edda4b7b"/>
    <p:sldId xmlns:r="http://schemas.openxmlformats.org/officeDocument/2006/relationships" id="258" r:id="Rddf43518366448e3"/>
    <p:sldId xmlns:r="http://schemas.openxmlformats.org/officeDocument/2006/relationships" id="259" r:id="R873b82303fd74dd4"/>
    <p:sldId xmlns:r="http://schemas.openxmlformats.org/officeDocument/2006/relationships" id="260" r:id="R59a7dad92ae340ea"/>
    <p:sldId xmlns:r="http://schemas.openxmlformats.org/officeDocument/2006/relationships" id="261" r:id="Rdc08a1352f094f01"/>
    <p:sldId xmlns:r="http://schemas.openxmlformats.org/officeDocument/2006/relationships" id="262" r:id="Reefedf964b6647e0"/>
    <p:sldId xmlns:r="http://schemas.openxmlformats.org/officeDocument/2006/relationships" id="263" r:id="Rcf0ec0ee1c764f45"/>
    <p:sldId xmlns:r="http://schemas.openxmlformats.org/officeDocument/2006/relationships" id="264" r:id="Rc288a6972b1647fe"/>
    <p:sldId xmlns:r="http://schemas.openxmlformats.org/officeDocument/2006/relationships" id="265" r:id="Rfb8f31821fcb475b"/>
    <p:sldId xmlns:r="http://schemas.openxmlformats.org/officeDocument/2006/relationships" id="266" r:id="R7b3841cf60a44ee1"/>
    <p:sldId xmlns:r="http://schemas.openxmlformats.org/officeDocument/2006/relationships" id="267" r:id="Ra3d84099d22f4f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caafc97e854567" /><Relationship Type="http://schemas.openxmlformats.org/officeDocument/2006/relationships/slideMaster" Target="/ppt/slideMasters/slideMaster1.xml" Id="R9af45324990f4fc6" /><Relationship Type="http://schemas.openxmlformats.org/officeDocument/2006/relationships/notesMaster" Target="/ppt/notesMasters/notesMaster1.xml" Id="Rb85f8279411d4f74" /><Relationship Type="http://schemas.openxmlformats.org/officeDocument/2006/relationships/presProps" Target="/ppt/presProps.xml" Id="R9b85c2e4b5c64b94" /><Relationship Type="http://schemas.openxmlformats.org/officeDocument/2006/relationships/tableStyles" Target="/ppt/tableStyles.xml" Id="R3ec86b1225d0405c" /><Relationship Type="http://schemas.openxmlformats.org/officeDocument/2006/relationships/slide" Target="/ppt/slides/slide1.xml" Id="R681ccfb02e394586" /><Relationship Type="http://schemas.openxmlformats.org/officeDocument/2006/relationships/slide" Target="/ppt/slides/slide2.xml" Id="Ra0e4bb68edda4b7b" /><Relationship Type="http://schemas.openxmlformats.org/officeDocument/2006/relationships/slide" Target="/ppt/slides/slide3.xml" Id="Rddf43518366448e3" /><Relationship Type="http://schemas.openxmlformats.org/officeDocument/2006/relationships/slide" Target="/ppt/slides/slide4.xml" Id="R873b82303fd74dd4" /><Relationship Type="http://schemas.openxmlformats.org/officeDocument/2006/relationships/slide" Target="/ppt/slides/slide5.xml" Id="R59a7dad92ae340ea" /><Relationship Type="http://schemas.openxmlformats.org/officeDocument/2006/relationships/slide" Target="/ppt/slides/slide6.xml" Id="Rdc08a1352f094f01" /><Relationship Type="http://schemas.openxmlformats.org/officeDocument/2006/relationships/slide" Target="/ppt/slides/slide7.xml" Id="Reefedf964b6647e0" /><Relationship Type="http://schemas.openxmlformats.org/officeDocument/2006/relationships/slide" Target="/ppt/slides/slide8.xml" Id="Rcf0ec0ee1c764f45" /><Relationship Type="http://schemas.openxmlformats.org/officeDocument/2006/relationships/slide" Target="/ppt/slides/slide9.xml" Id="Rc288a6972b1647fe" /><Relationship Type="http://schemas.openxmlformats.org/officeDocument/2006/relationships/slide" Target="/ppt/slides/slide10.xml" Id="Rfb8f31821fcb475b" /><Relationship Type="http://schemas.openxmlformats.org/officeDocument/2006/relationships/slide" Target="/ppt/slides/slide11.xml" Id="R7b3841cf60a44ee1" /><Relationship Type="http://schemas.openxmlformats.org/officeDocument/2006/relationships/slide" Target="/ppt/slides/slide12.xml" Id="Ra3d84099d22f4f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8f1593569149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3bbcac1d714a46" /><Relationship Type="http://schemas.openxmlformats.org/officeDocument/2006/relationships/notesMaster" Target="/ppt/notesMasters/notesMaster1.xml" Id="Rfd23ecfaad0246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eb34150ec64c34" /><Relationship Type="http://schemas.openxmlformats.org/officeDocument/2006/relationships/notesMaster" Target="/ppt/notesMasters/notesMaster1.xml" Id="R09df7ad36a6840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26d8ce7ce04d93" /><Relationship Type="http://schemas.openxmlformats.org/officeDocument/2006/relationships/notesMaster" Target="/ppt/notesMasters/notesMaster1.xml" Id="R6ef8f06d501b43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3e7748aadc4a5f" /><Relationship Type="http://schemas.openxmlformats.org/officeDocument/2006/relationships/notesMaster" Target="/ppt/notesMasters/notesMaster1.xml" Id="R1b491bbe4c3641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d44c6947b84b1c" /><Relationship Type="http://schemas.openxmlformats.org/officeDocument/2006/relationships/notesMaster" Target="/ppt/notesMasters/notesMaster1.xml" Id="Rf5b1061a2bfd4c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b9ec676b434df2" /><Relationship Type="http://schemas.openxmlformats.org/officeDocument/2006/relationships/notesMaster" Target="/ppt/notesMasters/notesMaster1.xml" Id="Rd3e921721fb142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66a9d26d3f429d" /><Relationship Type="http://schemas.openxmlformats.org/officeDocument/2006/relationships/notesMaster" Target="/ppt/notesMasters/notesMaster1.xml" Id="R83092f4db02d49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d900eab4bb43ad" /><Relationship Type="http://schemas.openxmlformats.org/officeDocument/2006/relationships/notesMaster" Target="/ppt/notesMasters/notesMaster1.xml" Id="Rc3cef1f4c08d4ae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72afdef88a4bf7" /><Relationship Type="http://schemas.openxmlformats.org/officeDocument/2006/relationships/notesMaster" Target="/ppt/notesMasters/notesMaster1.xml" Id="R985d3b044d5443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b4e79ff74149f9" /><Relationship Type="http://schemas.openxmlformats.org/officeDocument/2006/relationships/notesMaster" Target="/ppt/notesMasters/notesMaster1.xml" Id="Rab4986e21e9548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0b4778609de4f2f" /><Relationship Type="http://schemas.openxmlformats.org/officeDocument/2006/relationships/notesMaster" Target="/ppt/notesMasters/notesMaster1.xml" Id="Rf2259fb6e1894a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d7a010b1644b07" /><Relationship Type="http://schemas.openxmlformats.org/officeDocument/2006/relationships/notesMaster" Target="/ppt/notesMasters/notesMaster1.xml" Id="R18bf07e851e24a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docs/CASE_SUMMARY.md; docs/TEAM.md.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data/case/demand.csv; data/case/constraints.csv.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docs/architecture.md; src/terraplan/engine.py; configs/assumptions.yaml.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data/case/supply_sources.csv; data/case/investment_options.csv; data/case/storage_options.csv.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results/alternatives/*_BASE/result.json; results/strategy/summary.md.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results/alternatives/P2z_earth_new_zbo_MANDATORY_STRESS/result.json; configs/scenarios/mandatory_stress.yaml.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results/alternatives/P2z_earth_new_zbo_BASE/result.json; results/alternatives/P2z_earth_new_zbo_MANDATORY_STRESS/result.json; results/stress/P2z_earth_new_zbo_adapted_MANDATORY_STRESS/result.json.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results/earth_new_delay/summary.md; results/geopolitical_price_shock/summary.md; results/monte_carlo/summary.md.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src/terraplan/web.py; src/terraplan/static/; docs/operator_guide.md.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results/extensibility/run/result.json; experiments/run_extensibility.py; tests/test_web.py.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results/alternatives/P2z_earth_new_zbo_BASE/financial_breakdown.csv; docs/roadmap_budget.md.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README.md; docs/operator_guide.md; docs/HANDOVER.md.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af4372c91d48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51764bb0884bbe" /><Relationship Type="http://schemas.openxmlformats.org/officeDocument/2006/relationships/slideLayout" Target="/ppt/slideLayouts/slideLayout1.xml" Id="Rfc2a1d9c09134d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2a1d9c09134d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1a1f74809476a" /><Relationship Type="http://schemas.openxmlformats.org/officeDocument/2006/relationships/notesSlide" Target="/ppt/notesSlides/notesSlide1.xml" Id="R4ce29e372f8d4c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ab483a265440c" /><Relationship Type="http://schemas.openxmlformats.org/officeDocument/2006/relationships/notesSlide" Target="/ppt/notesSlides/notesSlide2.xml" Id="R53a918ff44a743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46edd2b304478" /><Relationship Type="http://schemas.openxmlformats.org/officeDocument/2006/relationships/notesSlide" Target="/ppt/notesSlides/notesSlide3.xml" Id="Ra8e3cb03f2144f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124b2562747aa" /><Relationship Type="http://schemas.openxmlformats.org/officeDocument/2006/relationships/notesSlide" Target="/ppt/notesSlides/notesSlide4.xml" Id="R7ed2d09a21494c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1c5255a544f9d" /><Relationship Type="http://schemas.openxmlformats.org/officeDocument/2006/relationships/chart" Target="/ppt/slides/charts/chart1.xml" Id="R6efeba33dc714f11" /><Relationship Type="http://schemas.openxmlformats.org/officeDocument/2006/relationships/notesSlide" Target="/ppt/notesSlides/notesSlide5.xml" Id="Radca55006d5845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55e71ef904752" /><Relationship Type="http://schemas.openxmlformats.org/officeDocument/2006/relationships/notesSlide" Target="/ppt/notesSlides/notesSlide6.xml" Id="Ra2c652b0d9aa44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b248ab801415a" /><Relationship Type="http://schemas.openxmlformats.org/officeDocument/2006/relationships/chart" Target="/ppt/slides/charts/chart2.xml" Id="R7c4a813e1ecd4416" /><Relationship Type="http://schemas.openxmlformats.org/officeDocument/2006/relationships/notesSlide" Target="/ppt/notesSlides/notesSlide7.xml" Id="Rd32c3bf409cd41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8d41ca1224b57" /><Relationship Type="http://schemas.openxmlformats.org/officeDocument/2006/relationships/notesSlide" Target="/ppt/notesSlides/notesSlide8.xml" Id="R4fb730d40f2343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c46dff5e94452" /><Relationship Type="http://schemas.openxmlformats.org/officeDocument/2006/relationships/notesSlide" Target="/ppt/notesSlides/notesSlide9.xml" Id="R12ca41d208bb41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ea369bd7ae4682" /><Relationship Type="http://schemas.openxmlformats.org/officeDocument/2006/relationships/notesSlide" Target="/ppt/notesSlides/notesSlide10.xml" Id="Re1d5af43669c41c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a35665d5946c5" /><Relationship Type="http://schemas.openxmlformats.org/officeDocument/2006/relationships/chart" Target="/ppt/slides/charts/chart3.xml" Id="R7ae56c39ed824e6d" /><Relationship Type="http://schemas.openxmlformats.org/officeDocument/2006/relationships/notesSlide" Target="/ppt/notesSlides/notesSlide11.xml" Id="Ra0fded9d050245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5905471064684" /><Relationship Type="http://schemas.openxmlformats.org/officeDocument/2006/relationships/notesSlide" Target="/ppt/notesSlides/notesSlide12.xml" Id="Rfde55297d0de460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PV BASE, млн у.е.</c:v>
          </c:tx>
          <c:spPr>
            <a:solidFill xmlns:a="http://schemas.openxmlformats.org/drawingml/2006/main">
              <a:srgbClr val="176A5B"/>
            </a:solidFill>
          </c:spPr>
          <c:cat>
            <c:strRef>
              <c:f>'Chart Data'!$A$2:$A$5</c:f>
              <c:strCache>
                <c:ptCount val="4"/>
                <c:pt idx="0">
                  <c:v>P2 New</c:v>
                </c:pt>
                <c:pt idx="1">
                  <c:v>P2z New + ZBO</c:v>
                </c:pt>
                <c:pt idx="2">
                  <c:v>P3 ISRU + ZBO</c:v>
                </c:pt>
                <c:pt idx="3">
                  <c:v>P4 полный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8780</c:v>
                </c:pt>
                <c:pt idx="1">
                  <c:v>8729</c:v>
                </c:pt>
                <c:pt idx="2">
                  <c:v>8639</c:v>
                </c:pt>
                <c:pt idx="3">
                  <c:v>8858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PV, млн у.е.</c:v>
          </c:tx>
          <c:spPr>
            <a:solidFill xmlns:a="http://schemas.openxmlformats.org/drawingml/2006/main">
              <a:srgbClr val="176A5B"/>
            </a:solidFill>
          </c:spPr>
          <c:cat>
            <c:strRef>
              <c:f>'Chart Data'!$A$2:$A$4</c:f>
              <c:strCache>
                <c:ptCount val="3"/>
                <c:pt idx="0">
                  <c:v>BASE</c:v>
                </c:pt>
                <c:pt idx="1">
                  <c:v>Стресс, план прежний</c:v>
                </c:pt>
                <c:pt idx="2">
                  <c:v>Стресс, адаптация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8729</c:v>
                </c:pt>
                <c:pt idx="1">
                  <c:v>9143</c:v>
                </c:pt>
                <c:pt idx="2">
                  <c:v>10097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Всего, млн</c:v>
          </c:tx>
          <c:spPr>
            <a:solidFill xmlns:a="http://schemas.openxmlformats.org/drawingml/2006/main">
              <a:srgbClr val="176A5B"/>
            </a:solidFill>
          </c:spPr>
          <c:cat>
            <c:numRef>
              <c:f>'Chart Data'!$A$2:$A$7</c:f>
              <c:numCache>
                <c:formatCode>General</c:formatCod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numCache>
            </c:numRef>
          </c:cat>
          <c:val>
            <c:numRef>
              <c:f>'Chart Data'!$B$2:$B$7</c:f>
              <c:numCache>
                <c:formatCode>#,##0</c:formatCode>
                <c:ptCount val="6"/>
                <c:pt idx="0">
                  <c:v>1218</c:v>
                </c:pt>
                <c:pt idx="1">
                  <c:v>1032</c:v>
                </c:pt>
                <c:pt idx="2">
                  <c:v>1566</c:v>
                </c:pt>
                <c:pt idx="3">
                  <c:v>1832</c:v>
                </c:pt>
                <c:pt idx="4">
                  <c:v>2383</c:v>
                </c:pt>
                <c:pt idx="5">
                  <c:v>2948</c:v>
                </c:pt>
              </c:numCache>
            </c:numRef>
          </c:val>
        </c:ser>
        <c:ser>
          <c:idx val="1"/>
          <c:order val="1"/>
          <c:tx>
            <c:v>CAPEX, млн (в составе итого)</c:v>
          </c:tx>
          <c:spPr>
            <a:solidFill xmlns:a="http://schemas.openxmlformats.org/drawingml/2006/main">
              <a:srgbClr val="D5A747"/>
            </a:solidFill>
          </c:spPr>
          <c:cat>
            <c:numRef>
              <c:f>'Chart Data'!$C$2:$C$7</c:f>
              <c:numCache>
                <c:formatCode>General</c:formatCod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numCache>
            </c:numRef>
          </c:cat>
          <c:val>
            <c:numRef>
              <c:f>'Chart Data'!$D$2:$D$7</c:f>
              <c:numCache>
                <c:formatCode>#,##0</c:formatCode>
                <c:ptCount val="6"/>
                <c:pt idx="0">
                  <c:v>360</c:v>
                </c:pt>
                <c:pt idx="1">
                  <c:v>0</c:v>
                </c:pt>
                <c:pt idx="2">
                  <c:v>180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F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F3A88-81FA-4F55-A521-DD16BD9A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TerraPlan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FA2114-35F1-4C31-9EFF-F6A79B4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Топливное снабжение орбитального узла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5134B-E54A-442F-BA32-E4CF22F8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956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2035–2040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2A04F-17AC-47A8-8D6F-0DFFE8F4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CosmoHackathon 2026 · Кейс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3DD906-1DDF-459D-81E6-E6EE6E5F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1 / 12</a:t>
            </a:r>
          </a:p>
        </p:txBody>
      </p:sp>
    </p:spTree>
    <p:extLst>
      <p:ext uri="{BB962C8B-B14F-4D97-AF65-F5344CB8AC3E}">
        <p14:creationId xmlns:p14="http://schemas.microsoft.com/office/powerpoint/2010/main" val="16911339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3F92B1-8641-49FC-B24F-704F13C1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Задача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78CC6-8015-478F-8997-84BF8812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Спрос растёт со 100 до 390 т/год.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502564-B0CA-47BE-8D9F-5D8AA953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Физический резерв покрывает 45 дней спроса.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39293-1BEE-409C-A94F-DF797CCB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Общий сервис ≥ 97 %, критический ≥ 99 % в BASE.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CC88D-3EAA-4603-85E4-F8A52820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CAPEX: ≤ 1 800 млн до 2037, ≤ 2 800 млн до 2040.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F13C5-B9A5-434E-A71C-92EEEC75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12459321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A419AB-DB4A-4ECC-9690-48BE1E70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Помесячный баланс и стоимость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071CC-8289-4185-9EF0-114BB1C0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Запас на конец = запас на начало + поставки − потери − выдача.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E9CA3-DCF8-4D59-8A08-62CE4FE4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Потери начисляются один раз на валовый входящий поток.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8FE46-4B69-4E49-9F2C-3B84A23A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Стоимость = закупка + резерв мощности + хранение + OPEX + CAPEX.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6E4D4-6E31-48B1-B17E-94903F8B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PV: реальная ставка 8 %, цены 2035 г. Единая база для альтернатив.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A7977-172F-471A-AFA4-CA9026E3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3261418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01FB27-B975-4CA8-B637-2787B5B0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Контракты и инвестиции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31B25-A56B-4185-9AE3-D71D0096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Earth-Core: 190 т/год, 12 месяцев, take-or-pay 70 %.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6BAD7-2A7F-4833-B92D-B08C253F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Earth-Flex: 110 т/год, 4 месяца. Emergency: 80 т/год, 6 недель.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AC29B-B980-4603-9C6B-9BB762EA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Earth-New: CAPEX 360 млн. ISRU: 1 250 млн, доступен с 2038.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C591E-C2A5-4A10-8628-812A4BD0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ZBO: CAPEX 180 млн, потери 1,2 % вместо 4,5 %.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D77C7-A907-45C4-97FC-7B02A2A9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5869616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63C370-D25A-49E8-BB86-9ABA7247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P2z выбран после жёсткого фильтра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feba33dc714f11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4AF383-8293-4B8C-B15D-81EFF849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P2z не самый дешёвый в BASE, но выигрывает все раскрытые профили MCDA за счёт CAPEX и стоимости адаптации.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C9F55-885A-473A-A64B-83B79241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18974286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91BCE-1C40-4288-8A4B-E3275736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Обязательный стресс P2z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AF21CA-9BC2-4D8D-87E0-8F450643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Неизменный план: дефицит 95.9 т.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E8116-31B2-4037-82E7-F7DB0711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Нарушения резерва: 2038, 2039, 2040.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078D73-7FCB-47E2-96B4-EA6E9DE9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Спрос +15 % с 2038. Цены A/B +25 % в 2038–2039.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39D7B-5803-4BD4-B517-6A8092C4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P2z не использует ISRU: его проблема в стрессе — недостаточный график заказов и запас.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FD71E-A4B3-4E10-A95E-FA1319DE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8854768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EA3E1-37D1-4389-948D-0A8F44EB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Заблаговременная адаптация P2z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4a813e1ecd4416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18306-DA70-4B2A-836A-F37C75B7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Адаптация: дефицит 0 т, жёстких нарушений 0. График зависит от сценария: адаптированный план переполняет хранилище в BASE.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B7E7E-FDE2-4918-82CB-603DD8D9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10588572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00D5E-7764-4B13-8BCA-5B04D678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Риски выбранной стратегии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982C9-7EF5-4EA6-B20B-290FDF44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Буфер запаса нужен до начала года: поздняя реакция не исправит резерв на 1 января.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132ED-7DE0-4CCC-8C02-59CE91D1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EXP-09: задержка Earth-New уже на 3 месяца нарушает резерв P2z в 2038–2040.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102745-70EB-49A4-BE35-5FD47E80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EXP-11: ценовой шок A/B +25 % добавляет P2z 470,9 млн PV без физического дефицита.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D4DDD-EF96-41BE-AA61-4F0D0F2A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EXP-07–10 исследуют P3. Их частоты нельзя переносить на P2z без нового расчёта.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659AA1-0E01-42DB-A7CE-0FF30335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14321325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C2048-AFAC-42F4-AE86-E896D47F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Рабочий интерфейс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91927-4FEF-4DE3-9111-D0203F44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Редактор заказов, резервов, инвестиций и начального запаса.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30F57-79FB-434E-B5AC-E6285A2F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Расчёт BASE и обязательного стресса через единый Python-движок.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DE375-53EF-495B-ADBC-91350A3F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Нарушения показывают год, факт, лимит и причину.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2186D6-6D9B-47CC-B307-0CD7FD59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Сравнение двух расчётов с изменением решений и расходов.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050DE3-9FC2-4090-B865-3E47B631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13102797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F1074E-27AB-4712-9C58-591FCAF5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Сохранение, выгрузка, расширение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92F22F-131C-461D-B834-277CF0AB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Рабочий JSON сохраняет план, сценарий, копию данных и допущения.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7733D-5525-4EDC-B15E-E1ECF4C7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ZIP содержит CSV, XLSX, JSON, входные данные и хеши расчёта.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A4F2B3-D914-4CD3-947B-739A5CF5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Демонстрация: Source-X и 2041 год, 7 лет, PV 10 271 млн. Исполнимость: да.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801A0-E7BF-4634-A236-BB3B9CF3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Source-X и спрос 2041 — TEAM_ASSUMPTION. Контрольные данные и ограничения сохранены.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7C1BD-615D-4AAA-990D-A867A9C1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2650816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0ECC5-09B6-4725-A1A4-8EBCBE83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Бюджет P2z по годам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e56c39ed824e6d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E4FA7-42B2-43AD-84A7-622E9A86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Earth-New: 360 млн в 2035. ZBO: 180 млн в 2037. CAPEX P2z до 2037: 540 млн.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E158D-4AD8-470F-AF4C-9BC96F8B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1778259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5071B-F863-42CE-A795-70421866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Запуск и передача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63A525-55E1-4219-9A75-83E09684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python -m pip install -e ".[dev]"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41D96-8C8E-425C-815C-E8E327EA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python -m terraplan ui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4BBEC1-868A-4DF9-9AF2-94F3C658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Проверка: BASE, стресс, адаптация, сохранение, сравнение, Source-X / 2041.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11C11-ECC3-42B7-A3EB-D93BC90F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Границы: локальный прототип, без оптимизатора и многопользовательского доступа.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D6505-59B7-4C22-918D-C701E4BE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434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Код и инструкции готовы к передаче. Публикация на GitVerse ещё не выполнена.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CDF92-F5D4-4585-8858-5114BD90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81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10738113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2026-09-19T08:31:04.2090000Z</dcterms:created>
  <dcterms:modified xsi:type="dcterms:W3CDTF">2026-09-19T08:31:04.2090000Z</dcterms:modified>
</coreProperties>
</file>