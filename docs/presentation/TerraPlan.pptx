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500e5f27a14e01" /><Relationship Type="http://schemas.openxmlformats.org/officeDocument/2006/relationships/extended-properties" Target="/docProps/app.xml" Id="R8a1f43dcdb364ef1" /><Relationship Type="http://schemas.openxmlformats.org/officeDocument/2006/relationships/officeDocument" Target="/ppt/presentation.xml" Id="R3cf723b3f7be4c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1b623b5b0748a3"/>
  </p:sldMasterIdLst>
  <p:notesMasterIdLst>
    <p:notesMasterId xmlns:r="http://schemas.openxmlformats.org/officeDocument/2006/relationships" r:id="Rc8d12d48acd744f0"/>
  </p:notesMasterIdLst>
  <p:sldIdLst>
    <p:sldId xmlns:r="http://schemas.openxmlformats.org/officeDocument/2006/relationships" id="256" r:id="R5f6a644f1e104766"/>
    <p:sldId xmlns:r="http://schemas.openxmlformats.org/officeDocument/2006/relationships" id="257" r:id="R11a4713018b14e88"/>
    <p:sldId xmlns:r="http://schemas.openxmlformats.org/officeDocument/2006/relationships" id="258" r:id="R903bc5912a5d4f8c"/>
    <p:sldId xmlns:r="http://schemas.openxmlformats.org/officeDocument/2006/relationships" id="259" r:id="R263c223bface44a0"/>
    <p:sldId xmlns:r="http://schemas.openxmlformats.org/officeDocument/2006/relationships" id="260" r:id="Rb367bb3f809142fd"/>
    <p:sldId xmlns:r="http://schemas.openxmlformats.org/officeDocument/2006/relationships" id="261" r:id="Rc4c712c5d3ef4eb2"/>
    <p:sldId xmlns:r="http://schemas.openxmlformats.org/officeDocument/2006/relationships" id="262" r:id="R898165ab4a184e66"/>
    <p:sldId xmlns:r="http://schemas.openxmlformats.org/officeDocument/2006/relationships" id="263" r:id="R62926076287f4cd0"/>
    <p:sldId xmlns:r="http://schemas.openxmlformats.org/officeDocument/2006/relationships" id="264" r:id="R8fc920b41d554c79"/>
    <p:sldId xmlns:r="http://schemas.openxmlformats.org/officeDocument/2006/relationships" id="265" r:id="R28a47d62251146a7"/>
    <p:sldId xmlns:r="http://schemas.openxmlformats.org/officeDocument/2006/relationships" id="266" r:id="Rf1848150198c4fbe"/>
    <p:sldId xmlns:r="http://schemas.openxmlformats.org/officeDocument/2006/relationships" id="267" r:id="Rb4ef7266aeff49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af6bf626d44712" /><Relationship Type="http://schemas.openxmlformats.org/officeDocument/2006/relationships/slideMaster" Target="/ppt/slideMasters/slideMaster1.xml" Id="Re91b623b5b0748a3" /><Relationship Type="http://schemas.openxmlformats.org/officeDocument/2006/relationships/notesMaster" Target="/ppt/notesMasters/notesMaster1.xml" Id="Rc8d12d48acd744f0" /><Relationship Type="http://schemas.openxmlformats.org/officeDocument/2006/relationships/presProps" Target="/ppt/presProps.xml" Id="R0204511b09c24982" /><Relationship Type="http://schemas.openxmlformats.org/officeDocument/2006/relationships/tableStyles" Target="/ppt/tableStyles.xml" Id="R1bd9304544444af1" /><Relationship Type="http://schemas.openxmlformats.org/officeDocument/2006/relationships/slide" Target="/ppt/slides/slide1.xml" Id="R5f6a644f1e104766" /><Relationship Type="http://schemas.openxmlformats.org/officeDocument/2006/relationships/slide" Target="/ppt/slides/slide2.xml" Id="R11a4713018b14e88" /><Relationship Type="http://schemas.openxmlformats.org/officeDocument/2006/relationships/slide" Target="/ppt/slides/slide3.xml" Id="R903bc5912a5d4f8c" /><Relationship Type="http://schemas.openxmlformats.org/officeDocument/2006/relationships/slide" Target="/ppt/slides/slide4.xml" Id="R263c223bface44a0" /><Relationship Type="http://schemas.openxmlformats.org/officeDocument/2006/relationships/slide" Target="/ppt/slides/slide5.xml" Id="Rb367bb3f809142fd" /><Relationship Type="http://schemas.openxmlformats.org/officeDocument/2006/relationships/slide" Target="/ppt/slides/slide6.xml" Id="Rc4c712c5d3ef4eb2" /><Relationship Type="http://schemas.openxmlformats.org/officeDocument/2006/relationships/slide" Target="/ppt/slides/slide7.xml" Id="R898165ab4a184e66" /><Relationship Type="http://schemas.openxmlformats.org/officeDocument/2006/relationships/slide" Target="/ppt/slides/slide8.xml" Id="R62926076287f4cd0" /><Relationship Type="http://schemas.openxmlformats.org/officeDocument/2006/relationships/slide" Target="/ppt/slides/slide9.xml" Id="R8fc920b41d554c79" /><Relationship Type="http://schemas.openxmlformats.org/officeDocument/2006/relationships/slide" Target="/ppt/slides/slide10.xml" Id="R28a47d62251146a7" /><Relationship Type="http://schemas.openxmlformats.org/officeDocument/2006/relationships/slide" Target="/ppt/slides/slide11.xml" Id="Rf1848150198c4fbe" /><Relationship Type="http://schemas.openxmlformats.org/officeDocument/2006/relationships/slide" Target="/ppt/slides/slide12.xml" Id="Rb4ef7266aeff49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99aac3ddf044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b2647d4955495b" /><Relationship Type="http://schemas.openxmlformats.org/officeDocument/2006/relationships/notesMaster" Target="/ppt/notesMasters/notesMaster1.xml" Id="R872938cbe10445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b8ec8c483947d3" /><Relationship Type="http://schemas.openxmlformats.org/officeDocument/2006/relationships/notesMaster" Target="/ppt/notesMasters/notesMaster1.xml" Id="Rc843d5bdf6a647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4dc9728d334604" /><Relationship Type="http://schemas.openxmlformats.org/officeDocument/2006/relationships/notesMaster" Target="/ppt/notesMasters/notesMaster1.xml" Id="R70558f428c504f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dd343f710d4348" /><Relationship Type="http://schemas.openxmlformats.org/officeDocument/2006/relationships/notesMaster" Target="/ppt/notesMasters/notesMaster1.xml" Id="R6ea8c780f65c4f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a15ad992274bd3" /><Relationship Type="http://schemas.openxmlformats.org/officeDocument/2006/relationships/notesMaster" Target="/ppt/notesMasters/notesMaster1.xml" Id="R87cceffa031343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4ca7b62a55481a" /><Relationship Type="http://schemas.openxmlformats.org/officeDocument/2006/relationships/notesMaster" Target="/ppt/notesMasters/notesMaster1.xml" Id="R480d6da0894b48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7e57a1c240470e" /><Relationship Type="http://schemas.openxmlformats.org/officeDocument/2006/relationships/notesMaster" Target="/ppt/notesMasters/notesMaster1.xml" Id="Ra073c583817d4b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6b2a364cfa4115" /><Relationship Type="http://schemas.openxmlformats.org/officeDocument/2006/relationships/notesMaster" Target="/ppt/notesMasters/notesMaster1.xml" Id="R60e2357e6ae543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0cfd20396d4ab0" /><Relationship Type="http://schemas.openxmlformats.org/officeDocument/2006/relationships/notesMaster" Target="/ppt/notesMasters/notesMaster1.xml" Id="R27232c069d1a46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81527a6f634d8d" /><Relationship Type="http://schemas.openxmlformats.org/officeDocument/2006/relationships/notesMaster" Target="/ppt/notesMasters/notesMaster1.xml" Id="Rbceb0fd4b3eb4c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0f8cb4764a4f50" /><Relationship Type="http://schemas.openxmlformats.org/officeDocument/2006/relationships/notesMaster" Target="/ppt/notesMasters/notesMaster1.xml" Id="R44f1710aac4f4a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ae8e39318574d17" /><Relationship Type="http://schemas.openxmlformats.org/officeDocument/2006/relationships/notesMaster" Target="/ppt/notesMasters/notesMaster1.xml" Id="R69a821f92e2a4f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docs/CASE_SUMMARY.md; docs/TEAM.md.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data/case/demand.csv; data/case/constraints.csv.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docs/architecture.md; src/terraplan/engine.py; configs/assumptions.yaml.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data/case/supply_sources.csv; data/case/investment_options.csv; data/case/storage_options.csv.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results/alternatives/*_BASE/result.json.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results/alternatives/P3_isru_zbo_MANDATORY_STRESS/result.json; configs/scenarios/mandatory_stress.yaml.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results/alternatives/P3_isru_zbo_BASE/result.json; results/alternatives/P3_isru_zbo_MANDATORY_STRESS/result.json; results/stress/P3_isru_zbo_adapted_MANDATORY_STRESS/result.json.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results/reaction/summary.md; docs/risk_register.md; docs/stakeholders.md; docs/TEAM.md.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src/terraplan/web.py; src/terraplan/static/; docs/operator_guide.md.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results/extensibility/run/result.json; experiments/run_extensibility.py; tests/test_web.py.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results/alternatives/P3_isru_zbo_BASE/financial_breakdown.csv; docs/roadmap_budget.md.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в репозитории: README.md; docs/operator_guide.md; docs/HANDOVER.md. Все денежные показатели в млн условных единиц, постоянные цены 2035 г. Значения диаграмм округлены до целого, исходные точные значения сохранены в 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a39c51dc449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c34e676f2a4a4d" /><Relationship Type="http://schemas.openxmlformats.org/officeDocument/2006/relationships/slideLayout" Target="/ppt/slideLayouts/slideLayout1.xml" Id="R4e4ad1e63b834d8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4ad1e63b834d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dea488b0a4588" /><Relationship Type="http://schemas.openxmlformats.org/officeDocument/2006/relationships/notesSlide" Target="/ppt/notesSlides/notesSlide1.xml" Id="R8e6048837b8e49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65d7febb84d74" /><Relationship Type="http://schemas.openxmlformats.org/officeDocument/2006/relationships/notesSlide" Target="/ppt/notesSlides/notesSlide2.xml" Id="Rb4d5227bcea443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7421bae0f454f" /><Relationship Type="http://schemas.openxmlformats.org/officeDocument/2006/relationships/notesSlide" Target="/ppt/notesSlides/notesSlide3.xml" Id="Ra5790c592bb142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e15c63def412c" /><Relationship Type="http://schemas.openxmlformats.org/officeDocument/2006/relationships/notesSlide" Target="/ppt/notesSlides/notesSlide4.xml" Id="Ref6d75433efd46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cd21dd616e41b3" /><Relationship Type="http://schemas.openxmlformats.org/officeDocument/2006/relationships/chart" Target="/ppt/slides/charts/chart1.xml" Id="R8d9880717cc94399" /><Relationship Type="http://schemas.openxmlformats.org/officeDocument/2006/relationships/notesSlide" Target="/ppt/notesSlides/notesSlide5.xml" Id="R253f67320be741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ffc6076ed4619" /><Relationship Type="http://schemas.openxmlformats.org/officeDocument/2006/relationships/notesSlide" Target="/ppt/notesSlides/notesSlide6.xml" Id="Rb9443efbe9ec4b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e35fbd8334f9f" /><Relationship Type="http://schemas.openxmlformats.org/officeDocument/2006/relationships/chart" Target="/ppt/slides/charts/chart2.xml" Id="Rfcd466d1d64a4553" /><Relationship Type="http://schemas.openxmlformats.org/officeDocument/2006/relationships/notesSlide" Target="/ppt/notesSlides/notesSlide7.xml" Id="Rca3ede0d811947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f06fd470e427f" /><Relationship Type="http://schemas.openxmlformats.org/officeDocument/2006/relationships/notesSlide" Target="/ppt/notesSlides/notesSlide8.xml" Id="Rc6172ff3b72b46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d66a17563424d" /><Relationship Type="http://schemas.openxmlformats.org/officeDocument/2006/relationships/notesSlide" Target="/ppt/notesSlides/notesSlide9.xml" Id="R650ac04b5abf43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536ae81374e76" /><Relationship Type="http://schemas.openxmlformats.org/officeDocument/2006/relationships/notesSlide" Target="/ppt/notesSlides/notesSlide10.xml" Id="R5ba9d1fc798644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54d98142a4d11" /><Relationship Type="http://schemas.openxmlformats.org/officeDocument/2006/relationships/chart" Target="/ppt/slides/charts/chart3.xml" Id="Ref51d40e1403460b" /><Relationship Type="http://schemas.openxmlformats.org/officeDocument/2006/relationships/notesSlide" Target="/ppt/notesSlides/notesSlide11.xml" Id="R02e2d65313284c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e01418daa4d67" /><Relationship Type="http://schemas.openxmlformats.org/officeDocument/2006/relationships/notesSlide" Target="/ppt/notesSlides/notesSlide12.xml" Id="R1f212237cf2f483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PV, млн у.е.</c:v>
          </c:tx>
          <c:spPr>
            <a:solidFill xmlns:a="http://schemas.openxmlformats.org/drawingml/2006/main">
              <a:srgbClr val="176A5B"/>
            </a:solidFill>
          </c:spPr>
          <c:cat>
            <c:strRef>
              <c:f>'Chart Data'!$A$2:$A$5</c:f>
              <c:strCache>
                <c:ptCount val="4"/>
                <c:pt idx="0">
                  <c:v>P2 New</c:v>
                </c:pt>
                <c:pt idx="1">
                  <c:v>P2z New + ZBO</c:v>
                </c:pt>
                <c:pt idx="2">
                  <c:v>P3 ISRU + ZBO</c:v>
                </c:pt>
                <c:pt idx="3">
                  <c:v>P4 полный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8780</c:v>
                </c:pt>
                <c:pt idx="1">
                  <c:v>8729</c:v>
                </c:pt>
                <c:pt idx="2">
                  <c:v>8639</c:v>
                </c:pt>
                <c:pt idx="3">
                  <c:v>8858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PV, млн у.е.</c:v>
          </c:tx>
          <c:spPr>
            <a:solidFill xmlns:a="http://schemas.openxmlformats.org/drawingml/2006/main">
              <a:srgbClr val="176A5B"/>
            </a:solidFill>
          </c:spPr>
          <c:cat>
            <c:strRef>
              <c:f>'Chart Data'!$A$2:$A$4</c:f>
              <c:strCache>
                <c:ptCount val="3"/>
                <c:pt idx="0">
                  <c:v>BASE</c:v>
                </c:pt>
                <c:pt idx="1">
                  <c:v>Стресс, план прежний</c:v>
                </c:pt>
                <c:pt idx="2">
                  <c:v>Стресс, адаптация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8639</c:v>
                </c:pt>
                <c:pt idx="1">
                  <c:v>9032</c:v>
                </c:pt>
                <c:pt idx="2">
                  <c:v>10637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Всего, млн</c:v>
          </c:tx>
          <c:spPr>
            <a:solidFill xmlns:a="http://schemas.openxmlformats.org/drawingml/2006/main">
              <a:srgbClr val="176A5B"/>
            </a:solidFill>
          </c:spPr>
          <c:cat>
            <c:numRef>
              <c:f>'Chart Data'!$A$2:$A$7</c:f>
              <c:numCache>
                <c:formatCode>General</c:formatCod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numCache>
            </c:numRef>
          </c:cat>
          <c:val>
            <c:numRef>
              <c:f>'Chart Data'!$B$2:$B$7</c:f>
              <c:numCache>
                <c:formatCode>#,##0</c:formatCode>
                <c:ptCount val="6"/>
                <c:pt idx="0">
                  <c:v>858</c:v>
                </c:pt>
                <c:pt idx="1">
                  <c:v>2282</c:v>
                </c:pt>
                <c:pt idx="2">
                  <c:v>1588</c:v>
                </c:pt>
                <c:pt idx="3">
                  <c:v>1477</c:v>
                </c:pt>
                <c:pt idx="4">
                  <c:v>1942</c:v>
                </c:pt>
                <c:pt idx="5">
                  <c:v>2507</c:v>
                </c:pt>
              </c:numCache>
            </c:numRef>
          </c:val>
        </c:ser>
        <c:ser>
          <c:idx val="1"/>
          <c:order val="1"/>
          <c:tx>
            <c:v>CAPEX, млн (в составе итого)</c:v>
          </c:tx>
          <c:spPr>
            <a:solidFill xmlns:a="http://schemas.openxmlformats.org/drawingml/2006/main">
              <a:srgbClr val="D5A747"/>
            </a:solidFill>
          </c:spPr>
          <c:cat>
            <c:numRef>
              <c:f>'Chart Data'!$C$2:$C$7</c:f>
              <c:numCache>
                <c:formatCode>General</c:formatCode>
                <c:ptCount val="6"/>
                <c:pt idx="0">
                  <c:v>2035</c:v>
                </c:pt>
                <c:pt idx="1">
                  <c:v>2036</c:v>
                </c:pt>
                <c:pt idx="2">
                  <c:v>2037</c:v>
                </c:pt>
                <c:pt idx="3">
                  <c:v>2038</c:v>
                </c:pt>
                <c:pt idx="4">
                  <c:v>2039</c:v>
                </c:pt>
                <c:pt idx="5">
                  <c:v>2040</c:v>
                </c:pt>
              </c:numCache>
            </c:numRef>
          </c:cat>
          <c:val>
            <c:numRef>
              <c:f>'Chart Data'!$D$2:$D$7</c:f>
              <c:numCache>
                <c:formatCode>#,##0</c:formatCode>
                <c:ptCount val="6"/>
                <c:pt idx="0">
                  <c:v>0</c:v>
                </c:pt>
                <c:pt idx="1">
                  <c:v>1250</c:v>
                </c:pt>
                <c:pt idx="2">
                  <c:v>180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F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7D5D2-FD0A-4F9D-9AE4-6A02E2F0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TerraPlan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51009-CFCE-4D9F-BF7A-FE38BAAB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Топливное снабжение орбитального узла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79040-4FE5-4054-8512-ABC5CB76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956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2035–2040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863D3-B26C-495B-8CBD-7E183E63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CosmoHackathon 2026 · Кейс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8657A-5C8F-4FB3-ACF4-3DA4E1D7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0E3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D0E3DF"/>
                </a:solidFill>
                <a:latin typeface="Arial"/>
                <a:ea typeface="Arial"/>
                <a:cs typeface="Arial"/>
              </a:rPr>
              <a:t>1 / 12</a:t>
            </a:r>
          </a:p>
        </p:txBody>
      </p:sp>
    </p:spTree>
    <p:extLst>
      <p:ext uri="{BB962C8B-B14F-4D97-AF65-F5344CB8AC3E}">
        <p14:creationId xmlns:p14="http://schemas.microsoft.com/office/powerpoint/2010/main" val="3923138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0EAB4-819B-42FC-ABA4-5314ACCC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Задача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6D15B-562F-4C1F-B6B1-8E29CD9B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Спрос растёт со 100 до 390 т/год.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41D0B-6488-4B09-B3AC-D1F68940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Физический резерв покрывает 45 дней спроса.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CAAFD9-4E1F-4EBB-AD36-489383E2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Общий сервис ≥ 97 %, критический ≥ 99 % в BASE.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CCF1D-7AF9-41E5-9786-4E4917A3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CAPEX: ≤ 1 800 млн до 2037, ≤ 2 800 млн до 2040.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44252A-0C46-4BE9-87FD-EAD89F45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</p:spTree>
    <p:extLst>
      <p:ext uri="{BB962C8B-B14F-4D97-AF65-F5344CB8AC3E}">
        <p14:creationId xmlns:p14="http://schemas.microsoft.com/office/powerpoint/2010/main" val="9171727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5D72A-3E84-4D18-9649-168849C1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Помесячный баланс и стоимость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A7559-3D6A-4881-BD1E-C69DC39C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Запас на конец = запас на начало + поставки − потери − выдача.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0586EC-0696-411A-A893-B936B39C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Потери начисляются один раз на валовый входящий поток.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809D0-BE96-4AD5-A47D-A4987FCC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Стоимость = закупка + резерв мощности + хранение + OPEX + CAPEX.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5C9BC-E23C-4785-A088-8E3A60C4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PV: реальная ставка 8 %, цены 2035 г. Единая база для альтернатив.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CD96C-5699-43E4-BEFE-5AD22DEB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</p:spTree>
    <p:extLst>
      <p:ext uri="{BB962C8B-B14F-4D97-AF65-F5344CB8AC3E}">
        <p14:creationId xmlns:p14="http://schemas.microsoft.com/office/powerpoint/2010/main" val="19241061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E85C0-A4FC-46CF-BCC1-9EB6E38F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Контракты и инвестиции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E321F8-5D43-498F-B8B6-8A1D61EB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Earth-Core: 190 т/год, 12 месяцев, take-or-pay 70 %.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61C3D-90B9-4F8B-A7D7-887C4A0F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Earth-Flex: 110 т/год, 4 месяца. Emergency: 80 т/год, 6 недель.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DE9B6-CD69-409D-BDBD-FCD2BC46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Earth-New: CAPEX 360 млн. ISRU: 1 250 млн, доступен с 2038.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118ED-13A9-4B4E-9F61-CCC68CEA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ZBO: CAPEX 180 млн, потери 1,2 % вместо 4,5 %.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A9D13-3552-4CA0-8E55-AA4B6B2A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</p:spTree>
    <p:extLst>
      <p:ext uri="{BB962C8B-B14F-4D97-AF65-F5344CB8AC3E}">
        <p14:creationId xmlns:p14="http://schemas.microsoft.com/office/powerpoint/2010/main" val="11228034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1EAAD-D57D-48C0-80DF-09BEE2E1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Сравнение исполнимых планов в BASE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9880717cc94399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39A39-0BB0-4F5C-8D81-4C70EE63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P1 не проходит ограничения и исключён из ценового ранжирования.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81AD7-DC92-4111-8F24-B76EC3C9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</p:spTree>
    <p:extLst>
      <p:ext uri="{BB962C8B-B14F-4D97-AF65-F5344CB8AC3E}">
        <p14:creationId xmlns:p14="http://schemas.microsoft.com/office/powerpoint/2010/main" val="11781990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613BF-8364-4A2A-9E67-12D9BEFA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P3 в обязательном стрессе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1BF14-1EB1-42B9-8E4E-04262393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Неизменный план: дефицит 170.0 т.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DA740-4DA5-4022-B4DC-5A890E70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Нарушения резерва: 2038, 2039, 2040.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FD3EC9-A373-4858-85BC-07A85196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Спрос +15 % с 2038. Цены A/B +25 % в 2038–2039.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1D0CE-4BC8-4FF9-85BD-A53A14CE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Поставка ISRU: 55 % в 2038 и 75 % в 2039, без повторного множителя надёжности.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985DE4-1E5E-42B5-A0B4-EDDD0880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</p:spTree>
    <p:extLst>
      <p:ext uri="{BB962C8B-B14F-4D97-AF65-F5344CB8AC3E}">
        <p14:creationId xmlns:p14="http://schemas.microsoft.com/office/powerpoint/2010/main" val="11391998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03055-CCB1-4F9D-AE47-F7E24015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Заблаговременная адаптация P3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d466d1d64a4553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58304-674F-4F38-84E2-057E9C4E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Адаптация: дефицит 0 т, жёстких нарушений 0. Это разные решения, не гарантия робастности.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BE9D6-54B5-4ECA-AFE8-C7658A72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</p:spTree>
    <p:extLst>
      <p:ext uri="{BB962C8B-B14F-4D97-AF65-F5344CB8AC3E}">
        <p14:creationId xmlns:p14="http://schemas.microsoft.com/office/powerpoint/2010/main" val="10253441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52439-2E83-46E4-AECD-D09AF871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Риски и правила реакции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2219D-296D-447D-88DA-2C7DF26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Буфер запаса нужен до начала года: поздняя реакция не исправит резерв на 1 января.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3B5E4-B503-4866-BC04-4F59C376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Дозаказ Flex требует 4 месяцев, Emergency — 6 недель.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9EB4BE-7CAF-4778-AE95-CBEAF008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Оператор отвечает за резерв, финансирующая сторона — за инвестиционные ворота.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72C64-4DC1-4890-A692-3928183C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Обратный стресс и Монте-Карло пока не реализованы. Итоговый выбор стратегии остаётся за R2/R3.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44946-B9A6-415C-BF6E-56860860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</p:spTree>
    <p:extLst>
      <p:ext uri="{BB962C8B-B14F-4D97-AF65-F5344CB8AC3E}">
        <p14:creationId xmlns:p14="http://schemas.microsoft.com/office/powerpoint/2010/main" val="10890845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3E3FAE-C372-4472-B709-2A42BB4B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Рабочий интерфейс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7A8917-68FF-4C71-8721-85113083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Редактор заказов, резервов, инвестиций и начального запаса.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79261-76EE-493C-8952-F8467D6B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Расчёт BASE и обязательного стресса через единый Python-движок.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9A643-6D09-4ADD-874A-D97D46CE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Нарушения показывают год, факт, лимит и причину.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295A83-DD30-4F6E-BCB9-EBE9A42D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Сравнение двух расчётов с изменением решений и расходов.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B654D-BBD5-490F-8DA5-12B43FC0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</p:spTree>
    <p:extLst>
      <p:ext uri="{BB962C8B-B14F-4D97-AF65-F5344CB8AC3E}">
        <p14:creationId xmlns:p14="http://schemas.microsoft.com/office/powerpoint/2010/main" val="2369026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6AA56-6A3C-4A9C-AA16-9948342B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Сохранение, выгрузка, расширение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880245-080A-42FB-925B-E7E93358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Рабочий JSON сохраняет план, сценарий, копию данных и допущения.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B702D-1645-49D9-B497-969114BE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ZIP содержит CSV, XLSX, JSON, входные данные и хеши расчёта.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2F967-F8A8-4E92-B728-BFF31B32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Демонстрация: Source-X и 2041 год, 7 лет, PV 10 271 млн. Исполнимость: да.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5FD32D-09C0-4635-BD99-0FD094A8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Source-X и спрос 2041 — TEAM_ASSUMPTION. Контрольные данные и ограничения сохранены.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9D1B8-B935-4837-B7AF-0E36D85D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1525080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93DD76-FA41-4C82-8F6C-E104BC66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Бюджет P3 по годам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14375" y="16002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51d40e1403460b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AA2F0-7261-44B4-A688-0E7AD42C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B40"/>
                </a:solidFill>
                <a:latin typeface="Arial"/>
                <a:ea typeface="Arial"/>
                <a:cs typeface="Arial"/>
              </a:rPr>
              <a:t>ISRU: оплата 2036-01. ZBO: оплата 2037-07. CAPEX P3 до 2037: 1 430 млн.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DC68A-AA80-4DE7-8F5E-E61B86C9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20177699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EDFDB-2CD6-4209-8F9B-81D83D00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83B4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B40"/>
                </a:solidFill>
                <a:latin typeface="Arial"/>
                <a:ea typeface="Arial"/>
                <a:cs typeface="Arial"/>
              </a:rPr>
              <a:t>Запуск и передача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C5382-1B66-4EE1-BC02-F0FE86A7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python -m pip install -e ".[dev]"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E67958-55A7-4580-8ABC-D7D39D7D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431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python -m terraplan ui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33A83-DF8C-476F-BC66-133FF955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Проверка: BASE, стресс, адаптация, сохранение, сравнение, Source-X / 2041.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D6004-7416-4832-BF44-FA496BE8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002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Границы: локальный прототип, без оптимизатора и многопользовательского доступа.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8EF5A-58BE-43E8-AED9-27862039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434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44D5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44D50"/>
                </a:solidFill>
                <a:latin typeface="Arial"/>
                <a:ea typeface="Arial"/>
                <a:cs typeface="Arial"/>
              </a:rPr>
              <a:t>Код и инструкции готовы к передаче. Публикация на GitVerse ещё не выполнена.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9C2CCB-6030-4273-BC3A-983F28E6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809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A80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A807A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16771031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2026-09-18T21:40:35.9800000Z</dcterms:created>
  <dcterms:modified xsi:type="dcterms:W3CDTF">2026-09-18T21:40:35.9800000Z</dcterms:modified>
</coreProperties>
</file>