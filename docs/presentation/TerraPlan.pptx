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PV затрат в BASE, млн</c:v>
                </c:pt>
              </c:strCache>
            </c:strRef>
          </c:tx>
          <c:spPr>
            <a:solidFill>
              <a:srgbClr val="176A5B"/>
            </a:solidFill>
          </c:spPr>
          <c:cat>
            <c:strRef>
              <c:f>Sheet1!$A$2:$A$6</c:f>
              <c:strCache>
                <c:ptCount val="5"/>
                <c:pt idx="0">
                  <c:v>P1 только Земля</c:v>
                </c:pt>
                <c:pt idx="1">
                  <c:v>P2
+ Earth-New</c:v>
                </c:pt>
                <c:pt idx="2">
                  <c:v>P2z
+ Earth-New + ZBO</c:v>
                </c:pt>
                <c:pt idx="3">
                  <c:v>P3
+ ISRU + ZBO</c:v>
                </c:pt>
                <c:pt idx="4">
                  <c:v>P4 полный портфель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7857</c:v>
                </c:pt>
                <c:pt idx="1">
                  <c:v>8780</c:v>
                </c:pt>
                <c:pt idx="2">
                  <c:v>8729</c:v>
                </c:pt>
                <c:pt idx="3">
                  <c:v>8639</c:v>
                </c:pt>
                <c:pt idx="4">
                  <c:v>8858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200"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numFmt formatCode="#,##0" sourceLinked="0"/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PV затрат P2z, млн</c:v>
                </c:pt>
              </c:strCache>
            </c:strRef>
          </c:tx>
          <c:spPr>
            <a:solidFill>
              <a:srgbClr val="176A5B"/>
            </a:solidFill>
          </c:spPr>
          <c:cat>
            <c:strRef>
              <c:f>Sheet1!$A$2:$A$4</c:f>
              <c:strCache>
                <c:ptCount val="3"/>
                <c:pt idx="0">
                  <c:v>BASE</c:v>
                </c:pt>
                <c:pt idx="1">
                  <c:v>Стресс,
заказы без изменений</c:v>
                </c:pt>
                <c:pt idx="2">
                  <c:v>Стресс,
адаптация заранее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8729</c:v>
                </c:pt>
                <c:pt idx="1">
                  <c:v>9143</c:v>
                </c:pt>
                <c:pt idx="2">
                  <c:v>10097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200"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numFmt formatCode="#,##0" sourceLinked="0"/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BASE, итого за год</c:v>
                </c:pt>
              </c:strCache>
            </c:strRef>
          </c:tx>
          <c:spPr>
            <a:solidFill>
              <a:srgbClr val="176A5B"/>
            </a:solidFill>
          </c:spPr>
          <c:cat>
            <c:strRef>
              <c:f>Sheet1!$A$2:$A$7</c:f>
              <c:strCache>
                <c:ptCount val="6"/>
                <c:pt idx="0">
                  <c:v>2035</c:v>
                </c:pt>
                <c:pt idx="1">
                  <c:v>2036</c:v>
                </c:pt>
                <c:pt idx="2">
                  <c:v>2037</c:v>
                </c:pt>
                <c:pt idx="3">
                  <c:v>2038</c:v>
                </c:pt>
                <c:pt idx="4">
                  <c:v>2039</c:v>
                </c:pt>
                <c:pt idx="5">
                  <c:v>2040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1218</c:v>
                </c:pt>
                <c:pt idx="1">
                  <c:v>1032</c:v>
                </c:pt>
                <c:pt idx="2">
                  <c:v>1566</c:v>
                </c:pt>
                <c:pt idx="3">
                  <c:v>1832</c:v>
                </c:pt>
                <c:pt idx="4">
                  <c:v>2383</c:v>
                </c:pt>
                <c:pt idx="5">
                  <c:v>2948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Адаптированный стресс, итого за год</c:v>
                </c:pt>
              </c:strCache>
            </c:strRef>
          </c:tx>
          <c:spPr>
            <a:solidFill>
              <a:srgbClr val="D5A747"/>
            </a:solidFill>
          </c:spPr>
          <c:cat>
            <c:strRef>
              <c:f>Sheet1!$A$2:$A$7</c:f>
              <c:strCache>
                <c:ptCount val="6"/>
                <c:pt idx="0">
                  <c:v>2035</c:v>
                </c:pt>
                <c:pt idx="1">
                  <c:v>2036</c:v>
                </c:pt>
                <c:pt idx="2">
                  <c:v>2037</c:v>
                </c:pt>
                <c:pt idx="3">
                  <c:v>2038</c:v>
                </c:pt>
                <c:pt idx="4">
                  <c:v>2039</c:v>
                </c:pt>
                <c:pt idx="5">
                  <c:v>2040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1218</c:v>
                </c:pt>
                <c:pt idx="1">
                  <c:v>1032</c:v>
                </c:pt>
                <c:pt idx="2">
                  <c:v>1603</c:v>
                </c:pt>
                <c:pt idx="3">
                  <c:v>2421</c:v>
                </c:pt>
                <c:pt idx="4">
                  <c:v>3273</c:v>
                </c:pt>
                <c:pt idx="5">
                  <c:v>3264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200"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numFmt formatCode="#,##0" sourceLinked="0"/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>
              <a:latin typeface="Arial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Числа: сводные таблицы EXP-01 и EXP-02. Все денежные показатели в млн условных единиц в ценах 2035 г.; PV по реальной ставке 8 %.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Источник: постановка кейса и таблицы данных задания; порядок демонстрации — инструкция оператора.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Формулы соответствуют правилам контрольных расчётов организатора; блоки и границы применимости описаны в приложении об архитектуре расчёта.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PV в BASE: P1 только Земля 7 857,380; P2 + Earth-New 8 779,822; P2z + Earth-New + ZBO 8 729,404; P3 + ISRU + ZBO 8 638,857; P4 полный портфель 8 857,609. P1 неисполним: мощность 300 т/год меньше потребности 2040 года.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Сравнение доступно для выгрузки из интерфейса (вкладка «Сравнение») и в опубликованных таблицах EXP-02. Уровни сервиса в стрессе — ориентиры, резерв — жёсткое ограничение.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Баллы профилей воспроизводятся расчётом MCDA в составе контура; веса раскрыты в документе о стейкхолдерах и в записке.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Годовой бюджет и дорожная карта с воротами решений — приложение «Бюджет и дорожная карта».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Полные протоколы и таблицы — приложение «Методики и протоколы стресс-тестов». Испытания EXP-07, EXP-08 и EXP-10 выполнены на P3 до окончательного выбора и не переносятся на P2z без нового расчёта.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Полный реестр: событие, причина, параметры, период, основание диапазона, зависимости, владелец, меры, остаточный риск — приложение «Реестр ключевых рисков».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Адаптация при изменении рисков и раскрытые веса — приложение «Стейкхолдеры»; пункты договора — «Договорная стратегия».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Демонстрация: инструкция оператора, шаги 1–9. Паритет интерфейса, выгрузки и командной строки проверяется автоматическими тестами.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Границы прототипа: месячный шаг, без оптимизатора, один локальный оператор. Все числа воспроизводятся повторным запуском экспериментов.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B6F73"/>
                </a:solidFill>
                <a:latin typeface="Arial"/>
              </a:rPr>
              <a:t>TerraPlan · КосмоХакатон 2026 · кейс 2 · млн у.е. в ценах 2035 г., PV по ставке 8 %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89920" y="64465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B6F73"/>
                </a:solidFill>
                <a:latin typeface="Arial"/>
              </a:rPr>
              <a:t>1 / 12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F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6000" b="1">
                <a:solidFill>
                  <a:srgbClr val="FFFFFF"/>
                </a:solidFill>
                <a:latin typeface="Arial"/>
              </a:rPr>
              <a:t>TerraPlan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0">
                <a:solidFill>
                  <a:srgbClr val="D0E3DF"/>
                </a:solidFill>
                <a:latin typeface="Arial"/>
              </a:rPr>
              <a:t>Планирование топливного снабжения орбитального узла, 2035–2040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5661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800" b="0">
                <a:solidFill>
                  <a:srgbClr val="D0E3DF"/>
                </a:solidFill>
                <a:latin typeface="Arial"/>
              </a:rPr>
              <a:t>КосмоХакатон 2026 · кейс 2 «Топливный космоконтур 2035» · команда TerraPlan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Решение: земной портфель с новым поставщиком и модернизацией хранилища (P2z) — 8 729 млн PV в стандартном сценарии, 10 097 млн PV в обязательном стрессе после заблаговременной адаптации, дефицит 0 т в обоих случаях.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600" b="0">
                <a:solidFill>
                  <a:srgbClr val="D0E3DF"/>
                </a:solidFill>
                <a:latin typeface="Arial"/>
              </a:rPr>
              <a:t>Работающий цифровой контур: помесячный баланс, контракты, инвестиции, проверки ограничений, сравнение сценариев, сохранение и выгрузка.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42F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Задача оператора и пользовательский сценарий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24128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0">
                <a:solidFill>
                  <a:srgbClr val="5B6F73"/>
                </a:solidFill>
                <a:latin typeface="Arial"/>
              </a:rPr>
              <a:t>Спрос растёт почти в четыре раза; нужен исполнимый план при жёстких ограничениях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B6F73"/>
                </a:solidFill>
                <a:latin typeface="Arial"/>
              </a:rPr>
              <a:t>TerraPlan · КосмоХакатон 2026 · кейс 2 · млн у.е. в ценах 2035 г., PV по ставке 8 %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465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B6F73"/>
                </a:solidFill>
                <a:latin typeface="Arial"/>
              </a:rPr>
              <a:t>2 /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54480"/>
            <a:ext cx="6035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0">
                <a:solidFill>
                  <a:srgbClr val="183B40"/>
                </a:solidFill>
                <a:latin typeface="Arial"/>
              </a:rPr>
              <a:t>• Спрос: 100 → 390 т/год (критический 80 → 250 т) при пяти каналах: Earth-Core, Earth-Flex, Earth-New, Lunar-ISRU, Emergency.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0">
                <a:solidFill>
                  <a:srgbClr val="183B40"/>
                </a:solidFill>
                <a:latin typeface="Arial"/>
              </a:rPr>
              <a:t>• Хранилище 70 т с потерями 4,5 % от поступления; после модернизации ZBO — 120 т и 1,2 %.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0">
                <a:solidFill>
                  <a:srgbClr val="183B40"/>
                </a:solidFill>
                <a:latin typeface="Arial"/>
              </a:rPr>
              <a:t>• Физический резерв 45 дней спроса на 1 января; сервис ≥ 97 % общий и ≥ 99 % критический.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0">
                <a:solidFill>
                  <a:srgbClr val="183B40"/>
                </a:solidFill>
                <a:latin typeface="Arial"/>
              </a:rPr>
              <a:t>• CAPEX ≤ 1 800 млн до 2037 и ≤ 2 800 млн до 2040; Emergency — не базовый канал дольше двух лет.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0">
                <a:solidFill>
                  <a:srgbClr val="183B40"/>
                </a:solidFill>
                <a:latin typeface="Arial"/>
              </a:rPr>
              <a:t>• Обязательный стресс: спрос +15 % с 2038, цены Earth-Core/Earth-Flex +25 % в 2038–2039, ISRU 55 % / 75 %, потери ≤ 2 %.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15087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600" b="1">
                <a:solidFill>
                  <a:srgbClr val="176A5B"/>
                </a:solidFill>
                <a:latin typeface="Arial"/>
              </a:rPr>
              <a:t>Сценарий оператора в интерфейсе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0" y="1920240"/>
            <a:ext cx="5029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0">
                <a:solidFill>
                  <a:srgbClr val="183B40"/>
                </a:solidFill>
                <a:latin typeface="Arial"/>
              </a:rPr>
              <a:t>• 1. Открыть сохранённый план или изменить заказы, резервы, инвестиции, запас.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0">
                <a:solidFill>
                  <a:srgbClr val="183B40"/>
                </a:solidFill>
                <a:latin typeface="Arial"/>
              </a:rPr>
              <a:t>• 2. При необходимости изменить цены и условия контрактов на копии данных с описанием допущения.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0">
                <a:solidFill>
                  <a:srgbClr val="183B40"/>
                </a:solidFill>
                <a:latin typeface="Arial"/>
              </a:rPr>
              <a:t>• 3. Рассчитать: баланс, расходы, сервис, дефицит по годам и месяцам.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0">
                <a:solidFill>
                  <a:srgbClr val="183B40"/>
                </a:solidFill>
                <a:latin typeface="Arial"/>
              </a:rPr>
              <a:t>• 4. Проверить нарушения: правило, год, величина, лимит, причина.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0">
                <a:solidFill>
                  <a:srgbClr val="183B40"/>
                </a:solidFill>
                <a:latin typeface="Arial"/>
              </a:rPr>
              <a:t>• 5. Переключить BASE ↔ обязательный стресс, сравнить A и B.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0">
                <a:solidFill>
                  <a:srgbClr val="183B40"/>
                </a:solidFill>
                <a:latin typeface="Arial"/>
              </a:rPr>
              <a:t>• 6. Оценить свои риски: задержка Earth-New, ценовой шок, Source-X и 2041 год.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0">
                <a:solidFill>
                  <a:srgbClr val="183B40"/>
                </a:solidFill>
                <a:latin typeface="Arial"/>
              </a:rPr>
              <a:t>• 7. Сохранить рабочий файл и открыть его повторно.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0">
                <a:solidFill>
                  <a:srgbClr val="183B40"/>
                </a:solidFill>
                <a:latin typeface="Arial"/>
              </a:rPr>
              <a:t>• 8. Выгрузить CSV / XLSX / JSON с планом, проверками и хешами.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42F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Как считает цифровой контур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24128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0">
                <a:solidFill>
                  <a:srgbClr val="5B6F73"/>
                </a:solidFill>
                <a:latin typeface="Arial"/>
              </a:rPr>
              <a:t>Единый расчётный путь для командной строки, программного интерфейса и интерфейса оператора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B6F73"/>
                </a:solidFill>
                <a:latin typeface="Arial"/>
              </a:rPr>
              <a:t>TerraPlan · КосмоХакатон 2026 · кейс 2 · млн у.е. в ценах 2035 г., PV по ставке 8 %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465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B6F73"/>
                </a:solidFill>
                <a:latin typeface="Arial"/>
              </a:rPr>
              <a:t>3 /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54480"/>
            <a:ext cx="112471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0">
                <a:solidFill>
                  <a:srgbClr val="183B40"/>
                </a:solidFill>
                <a:latin typeface="Arial"/>
              </a:rPr>
              <a:t>• Шаг — календарный месяц, 2035-01 … 2040-12, плюс подготовительный период 2034 для начального запаса.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0">
                <a:solidFill>
                  <a:srgbClr val="183B40"/>
                </a:solidFill>
                <a:latin typeface="Arial"/>
              </a:rPr>
              <a:t>• Баланс: запас на конец = запас на начало + поступление − потери − выдача; потери = поступление × коэффициент режима, один раз; запас не бывает отрицательным, дефицит показывается отдельно.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0">
                <a:solidFill>
                  <a:srgbClr val="183B40"/>
                </a:solidFill>
                <a:latin typeface="Arial"/>
              </a:rPr>
              <a:t>• Контракты: оплачиваемый объём = max(заказ, take-or-pay × резерв × доля периода); плата за резерв = ставка × резерв × доля периода; недопоставка платёж не возвращает.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0">
                <a:solidFill>
                  <a:srgbClr val="183B40"/>
                </a:solidFill>
                <a:latin typeface="Arial"/>
              </a:rPr>
              <a:t>• Инвестиции: Earth-New доступен через 24 месяца после реализации опциона; ISRU с 2038 при оплате до 2037; ZBO с месяца оплаты.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0">
                <a:solidFill>
                  <a:srgbClr val="183B40"/>
                </a:solidFill>
                <a:latin typeface="Arial"/>
              </a:rPr>
              <a:t>• Затраты: закупка + резерв + хранение (0,72 × средний запас) + постоянный OPEX + CAPEX; PV по реальной ставке 8 % к началу 2035 г.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0">
                <a:solidFill>
                  <a:srgbClr val="183B40"/>
                </a:solidFill>
                <a:latin typeface="Arial"/>
              </a:rPr>
              <a:t>• Проверки по каждому году: сервис, CAPEX, резерв 45 дней, ёмкость помесячно, мощность и сроки по каналам, роль Emergency, потолок потерь — полная матрица «правило × год».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0">
                <a:solidFill>
                  <a:srgbClr val="183B40"/>
                </a:solidFill>
                <a:latin typeface="Arial"/>
              </a:rPr>
              <a:t>• Статус каждого параметра: данные задания · решение оператора · допущение команды (18 записей с единицей, диапазоном и обоснованием).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7607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176A5B"/>
                </a:solidFill>
                <a:latin typeface="Arial"/>
              </a:rPr>
              <a:t>Проверка: 10 контрольных примеров организатора, независимая ручная проверка 2035 года, граничные тесты и тесты ошибочного ввода, повторный пересчёт каждого опубликованного результата и независимый пересчёт только по CSV.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42F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Пять стратегий на единой базе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24128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0">
                <a:solidFill>
                  <a:srgbClr val="5B6F73"/>
                </a:solidFill>
                <a:latin typeface="Arial"/>
              </a:rPr>
              <a:t>Один спрос, один горизонт, одна ставка, один движок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B6F73"/>
                </a:solidFill>
                <a:latin typeface="Arial"/>
              </a:rPr>
              <a:t>TerraPlan · КосмоХакатон 2026 · кейс 2 · млн у.е. в ценах 2035 г., PV по ставке 8 %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465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B6F73"/>
                </a:solidFill>
                <a:latin typeface="Arial"/>
              </a:rPr>
              <a:t>4 / 12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365760" y="1463040"/>
          <a:ext cx="6766560" cy="44805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0" y="1554480"/>
          <a:ext cx="45720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7000"/>
                <a:gridCol w="571500"/>
                <a:gridCol w="1079500"/>
                <a:gridCol w="1524000"/>
              </a:tblGrid>
              <a:tr h="48768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План</a:t>
                      </a:r>
                    </a:p>
                  </a:txBody>
                  <a:tcPr marL="54864" marR="54864" marT="27432" marB="27432">
                    <a:solidFill>
                      <a:srgbClr val="176A5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CAPEX</a:t>
                      </a:r>
                    </a:p>
                  </a:txBody>
                  <a:tcPr marL="54864" marR="54864" marT="27432" marB="27432">
                    <a:solidFill>
                      <a:srgbClr val="176A5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Исполним в BASE</a:t>
                      </a:r>
                    </a:p>
                  </a:txBody>
                  <a:tcPr marL="54864" marR="54864" marT="27432" marB="27432">
                    <a:solidFill>
                      <a:srgbClr val="176A5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Стресс без изменения заказов</a:t>
                      </a:r>
                    </a:p>
                  </a:txBody>
                  <a:tcPr marL="54864" marR="54864" marT="27432" marB="27432">
                    <a:solidFill>
                      <a:srgbClr val="176A5B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3B40"/>
                          </a:solidFill>
                          <a:latin typeface="Arial"/>
                        </a:rPr>
                        <a:t>P1 только Земля</a:t>
                      </a:r>
                    </a:p>
                  </a:txBody>
                  <a:tcPr marL="54864" marR="54864" marT="27432" marB="27432"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3B40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27432" marB="27432"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3B40"/>
                          </a:solidFill>
                          <a:latin typeface="Arial"/>
                        </a:rPr>
                        <a:t>нет: дефицит 97,5 т</a:t>
                      </a:r>
                    </a:p>
                  </a:txBody>
                  <a:tcPr marL="54864" marR="54864" marT="27432" marB="27432"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3B40"/>
                          </a:solidFill>
                          <a:latin typeface="Arial"/>
                        </a:rPr>
                        <a:t>дефицит 241,5 т, 6 жёстких</a:t>
                      </a:r>
                    </a:p>
                  </a:txBody>
                  <a:tcPr marL="54864" marR="54864" marT="27432" marB="27432">
                    <a:solidFill>
                      <a:srgbClr val="F7F9F7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3B40"/>
                          </a:solidFill>
                          <a:latin typeface="Arial"/>
                        </a:rPr>
                        <a:t>P2 + Earth-New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3B40"/>
                          </a:solidFill>
                          <a:latin typeface="Arial"/>
                        </a:rPr>
                        <a:t>360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3B40"/>
                          </a:solidFill>
                          <a:latin typeface="Arial"/>
                        </a:rPr>
                        <a:t>да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3B40"/>
                          </a:solidFill>
                          <a:latin typeface="Arial"/>
                        </a:rPr>
                        <a:t>дефицит 95,9 т, 6 жёстких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3B40"/>
                          </a:solidFill>
                          <a:latin typeface="Arial"/>
                        </a:rPr>
                        <a:t>P2z + Earth-New + ZBO</a:t>
                      </a:r>
                    </a:p>
                  </a:txBody>
                  <a:tcPr marL="54864" marR="54864" marT="27432" marB="27432"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3B40"/>
                          </a:solidFill>
                          <a:latin typeface="Arial"/>
                        </a:rPr>
                        <a:t>540</a:t>
                      </a:r>
                    </a:p>
                  </a:txBody>
                  <a:tcPr marL="54864" marR="54864" marT="27432" marB="27432"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3B40"/>
                          </a:solidFill>
                          <a:latin typeface="Arial"/>
                        </a:rPr>
                        <a:t>да</a:t>
                      </a:r>
                    </a:p>
                  </a:txBody>
                  <a:tcPr marL="54864" marR="54864" marT="27432" marB="27432"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3B40"/>
                          </a:solidFill>
                          <a:latin typeface="Arial"/>
                        </a:rPr>
                        <a:t>дефицит 95,9 т, 3 жёстких</a:t>
                      </a:r>
                    </a:p>
                  </a:txBody>
                  <a:tcPr marL="54864" marR="54864" marT="27432" marB="27432">
                    <a:solidFill>
                      <a:srgbClr val="F7F9F7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3B40"/>
                          </a:solidFill>
                          <a:latin typeface="Arial"/>
                        </a:rPr>
                        <a:t>P3 + ISRU + ZBO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3B40"/>
                          </a:solidFill>
                          <a:latin typeface="Arial"/>
                        </a:rPr>
                        <a:t>1 430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3B40"/>
                          </a:solidFill>
                          <a:latin typeface="Arial"/>
                        </a:rPr>
                        <a:t>да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3B40"/>
                          </a:solidFill>
                          <a:latin typeface="Arial"/>
                        </a:rPr>
                        <a:t>дефицит 170,0 т, 3 жёстких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3B40"/>
                          </a:solidFill>
                          <a:latin typeface="Arial"/>
                        </a:rPr>
                        <a:t>P4 полный портфель</a:t>
                      </a:r>
                    </a:p>
                  </a:txBody>
                  <a:tcPr marL="54864" marR="54864" marT="27432" marB="27432"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3B40"/>
                          </a:solidFill>
                          <a:latin typeface="Arial"/>
                        </a:rPr>
                        <a:t>1 790</a:t>
                      </a:r>
                    </a:p>
                  </a:txBody>
                  <a:tcPr marL="54864" marR="54864" marT="27432" marB="27432"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3B40"/>
                          </a:solidFill>
                          <a:latin typeface="Arial"/>
                        </a:rPr>
                        <a:t>да</a:t>
                      </a:r>
                    </a:p>
                  </a:txBody>
                  <a:tcPr marL="54864" marR="54864" marT="27432" marB="27432"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3B40"/>
                          </a:solidFill>
                          <a:latin typeface="Arial"/>
                        </a:rPr>
                        <a:t>дефицит 170,0 т, 3 жёстких</a:t>
                      </a:r>
                    </a:p>
                  </a:txBody>
                  <a:tcPr marL="54864" marR="54864" marT="27432" marB="27432">
                    <a:solidFill>
                      <a:srgbClr val="F7F9F7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315200" y="4663440"/>
            <a:ext cx="4572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0">
                <a:solidFill>
                  <a:srgbClr val="183B40"/>
                </a:solidFill>
                <a:latin typeface="Arial"/>
              </a:rPr>
              <a:t>Ни одна стратегия без изменения заказов не проходит обязательный стресс: рост спроса на 15 % с 2038 года требует пересмотра заказов и запаса. ZBO нужен для потолка потерь 2 %.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42F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Обязательный стресс: заказы без изменений и заблаговременная адаптация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24128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0">
                <a:solidFill>
                  <a:srgbClr val="5B6F73"/>
                </a:solidFill>
                <a:latin typeface="Arial"/>
              </a:rPr>
              <a:t>P2z проходит стресс после пересмотра заказов и запаса; инвестиции не меняются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B6F73"/>
                </a:solidFill>
                <a:latin typeface="Arial"/>
              </a:rPr>
              <a:t>TerraPlan · КосмоХакатон 2026 · кейс 2 · млн у.е. в ценах 2035 г., PV по ставке 8 %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465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B6F73"/>
                </a:solidFill>
                <a:latin typeface="Arial"/>
              </a:rPr>
              <a:t>5 / 12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365760" y="1463040"/>
          <a:ext cx="5669280" cy="44805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309360" y="1554480"/>
            <a:ext cx="55778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0">
                <a:solidFill>
                  <a:srgbClr val="183B40"/>
                </a:solidFill>
                <a:latin typeface="Arial"/>
              </a:rPr>
              <a:t>• Заказы без изменений: дефицит 95,917 т (критический 0), общий сервис до 0,870, 45-дневный резерв нарушен в 2038, 2039, 2040.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0">
                <a:solidFill>
                  <a:srgbClr val="183B40"/>
                </a:solidFill>
                <a:latin typeface="Arial"/>
              </a:rPr>
              <a:t>• Адаптация заранее: запас 35,446 т к 2038-01 вместо 30,822; Earth-New +4,759 т в 2037 и +39,266 т в 2038; Earth-Flex +49,893 т в 2039 и +35,263 т в 2040.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0">
                <a:solidFill>
                  <a:srgbClr val="183B40"/>
                </a:solidFill>
                <a:latin typeface="Arial"/>
              </a:rPr>
              <a:t>• Результат: дефицит 0, нарушений 0, цена адаптации +954,574 млн PV к неизменным заказам в том же стрессе.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0">
                <a:solidFill>
                  <a:srgbClr val="183B40"/>
                </a:solidFill>
                <a:latin typeface="Arial"/>
              </a:rPr>
              <a:t>• Граница: тот же адаптированный график в BASE даёт 17 переполнений хранилища — универсального графика нет, график зависит от сценария.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0">
                <a:solidFill>
                  <a:srgbClr val="183B40"/>
                </a:solidFill>
                <a:latin typeface="Arial"/>
              </a:rPr>
              <a:t>• Реакция после наблюдения (март 2038) защищает сервис, но резерв 1 января 2038 исправить уже нельзя — решения о резерве принимаются заранее.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42F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Почему P2z, а не самый дешёвый в BASE план P3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24128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0">
                <a:solidFill>
                  <a:srgbClr val="5B6F73"/>
                </a:solidFill>
                <a:latin typeface="Arial"/>
              </a:rPr>
              <a:t>Фильтр допуска, затем раскрытый многокритериальный выбор с четырьмя профилями интересов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B6F73"/>
                </a:solidFill>
                <a:latin typeface="Arial"/>
              </a:rPr>
              <a:t>TerraPlan · КосмоХакатон 2026 · кейс 2 · млн у.е. в ценах 2035 г., PV по ставке 8 %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465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B6F73"/>
                </a:solidFill>
                <a:latin typeface="Arial"/>
              </a:rPr>
              <a:t>6 / 12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554480"/>
          <a:ext cx="5760718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0382"/>
                <a:gridCol w="900112"/>
                <a:gridCol w="900112"/>
                <a:gridCol w="900112"/>
              </a:tblGrid>
              <a:tr h="47548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Профиль весов</a:t>
                      </a:r>
                    </a:p>
                  </a:txBody>
                  <a:tcPr marL="54864" marR="54864" marT="27432" marB="27432">
                    <a:solidFill>
                      <a:srgbClr val="176A5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P2z</a:t>
                      </a:r>
                    </a:p>
                  </a:txBody>
                  <a:tcPr marL="54864" marR="54864" marT="27432" marB="27432">
                    <a:solidFill>
                      <a:srgbClr val="176A5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P3</a:t>
                      </a:r>
                    </a:p>
                  </a:txBody>
                  <a:tcPr marL="54864" marR="54864" marT="27432" marB="27432">
                    <a:solidFill>
                      <a:srgbClr val="176A5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P4</a:t>
                      </a:r>
                    </a:p>
                  </a:txBody>
                  <a:tcPr marL="54864" marR="54864" marT="27432" marB="27432">
                    <a:solidFill>
                      <a:srgbClr val="176A5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83B40"/>
                          </a:solidFill>
                          <a:latin typeface="Arial"/>
                        </a:rPr>
                        <a:t>Сбалансированный</a:t>
                      </a:r>
                    </a:p>
                  </a:txBody>
                  <a:tcPr marL="54864" marR="54864" marT="27432" marB="27432"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83B40"/>
                          </a:solidFill>
                          <a:latin typeface="Arial"/>
                        </a:rPr>
                        <a:t>74,6</a:t>
                      </a:r>
                    </a:p>
                  </a:txBody>
                  <a:tcPr marL="54864" marR="54864" marT="27432" marB="27432"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83B40"/>
                          </a:solidFill>
                          <a:latin typeface="Arial"/>
                        </a:rPr>
                        <a:t>30,8</a:t>
                      </a:r>
                    </a:p>
                  </a:txBody>
                  <a:tcPr marL="54864" marR="54864" marT="27432" marB="27432"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83B40"/>
                          </a:solidFill>
                          <a:latin typeface="Arial"/>
                        </a:rPr>
                        <a:t>18,3</a:t>
                      </a:r>
                    </a:p>
                  </a:txBody>
                  <a:tcPr marL="54864" marR="54864" marT="27432" marB="27432">
                    <a:solidFill>
                      <a:srgbClr val="F7F9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83B40"/>
                          </a:solidFill>
                          <a:latin typeface="Arial"/>
                        </a:rPr>
                        <a:t>Оператор / стоимость жизненного цикла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83B40"/>
                          </a:solidFill>
                          <a:latin typeface="Arial"/>
                        </a:rPr>
                        <a:t>72,5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83B40"/>
                          </a:solidFill>
                          <a:latin typeface="Arial"/>
                        </a:rPr>
                        <a:t>34,3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83B40"/>
                          </a:solidFill>
                          <a:latin typeface="Arial"/>
                        </a:rPr>
                        <a:t>18,8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83B40"/>
                          </a:solidFill>
                          <a:latin typeface="Arial"/>
                        </a:rPr>
                        <a:t>Потребители / непрерывность</a:t>
                      </a:r>
                    </a:p>
                  </a:txBody>
                  <a:tcPr marL="54864" marR="54864" marT="27432" marB="27432"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83B40"/>
                          </a:solidFill>
                          <a:latin typeface="Arial"/>
                        </a:rPr>
                        <a:t>64,5</a:t>
                      </a:r>
                    </a:p>
                  </a:txBody>
                  <a:tcPr marL="54864" marR="54864" marT="27432" marB="27432"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83B40"/>
                          </a:solidFill>
                          <a:latin typeface="Arial"/>
                        </a:rPr>
                        <a:t>21,4</a:t>
                      </a:r>
                    </a:p>
                  </a:txBody>
                  <a:tcPr marL="54864" marR="54864" marT="27432" marB="27432"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83B40"/>
                          </a:solidFill>
                          <a:latin typeface="Arial"/>
                        </a:rPr>
                        <a:t>29,4</a:t>
                      </a:r>
                    </a:p>
                  </a:txBody>
                  <a:tcPr marL="54864" marR="54864" marT="27432" marB="27432">
                    <a:solidFill>
                      <a:srgbClr val="F7F9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83B40"/>
                          </a:solidFill>
                          <a:latin typeface="Arial"/>
                        </a:rPr>
                        <a:t>Финансист / капитал под риском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83B40"/>
                          </a:solidFill>
                          <a:latin typeface="Arial"/>
                        </a:rPr>
                        <a:t>77,1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83B40"/>
                          </a:solidFill>
                          <a:latin typeface="Arial"/>
                        </a:rPr>
                        <a:t>41,5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83B40"/>
                          </a:solidFill>
                          <a:latin typeface="Arial"/>
                        </a:rPr>
                        <a:t>12,2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4114800"/>
            <a:ext cx="57607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B6F73"/>
                </a:solidFill>
                <a:latin typeface="Arial"/>
              </a:rPr>
              <a:t>Критерии (min–max в допущенном множестве): PV BASE, PV адаптированного стресса, CAPEX, дефицит фиксированного плана в стрессе, доля мощности без take-or-pay, номинальная мощность. Веса не меняют спрос, мощности, лимиты и требования сервиса; критический сервис и резерв — ограничения, а не критерии.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554480"/>
            <a:ext cx="5486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0">
                <a:solidFill>
                  <a:srgbClr val="183B40"/>
                </a:solidFill>
                <a:latin typeface="Arial"/>
              </a:rPr>
              <a:t>• P3 экономит 90,547 млн PV в BASE (1,0 %), но его адаптация к стрессу дороже P2z на 539,183 млн PV.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0">
                <a:solidFill>
                  <a:srgbClr val="183B40"/>
                </a:solidFill>
                <a:latin typeface="Arial"/>
              </a:rPr>
              <a:t>• P2z требует 540 млн CAPEX против 1 430 у P3 и 1 790 у P4: на 890 млн меньше необратимого капитала, запас до лимита 2037 года — 1 260 млн.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0">
                <a:solidFill>
                  <a:srgbClr val="183B40"/>
                </a:solidFill>
                <a:latin typeface="Arial"/>
              </a:rPr>
              <a:t>• P2z не несёт риск разгона лунного производства (55 % / 75 % в стрессе), но принимает риск задержки Earth-New — для него рассчитаны и оценены защитные меры.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0">
                <a:solidFill>
                  <a:srgbClr val="183B40"/>
                </a:solidFill>
                <a:latin typeface="Arial"/>
              </a:rPr>
              <a:t>• P4 даёт максимальную мощность 550 т/год, но оставляет 10 млн до лимита CAPEX и дороже P2z в адаптированном стрессе на 480,756 млн PV.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0">
                <a:solidFill>
                  <a:srgbClr val="183B40"/>
                </a:solidFill>
                <a:latin typeface="Arial"/>
              </a:rPr>
              <a:t>• Вывод: P2z — минимальная проверенная стоимость прохождения обязательного стресса при меньшем капитале; преимущества P3 и P4 видны в критериях и не скрыты рангом.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42F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Экономика и бюджет выбранного плана по годам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24128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0">
                <a:solidFill>
                  <a:srgbClr val="5B6F73"/>
                </a:solidFill>
                <a:latin typeface="Arial"/>
              </a:rPr>
              <a:t>Инвестиции одинаковы в обоих сценариях: Earth-New 360 млн в 2035, ZBO 180 млн в 2037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B6F73"/>
                </a:solidFill>
                <a:latin typeface="Arial"/>
              </a:rPr>
              <a:t>TerraPlan · КосмоХакатон 2026 · кейс 2 · млн у.е. в ценах 2035 г., PV по ставке 8 %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465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B6F73"/>
                </a:solidFill>
                <a:latin typeface="Arial"/>
              </a:rPr>
              <a:t>7 / 12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365760" y="1463040"/>
          <a:ext cx="694944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589520" y="1554480"/>
          <a:ext cx="4297679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3544"/>
                <a:gridCol w="991772"/>
                <a:gridCol w="1322363"/>
              </a:tblGrid>
              <a:tr h="40233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Показатель</a:t>
                      </a:r>
                    </a:p>
                  </a:txBody>
                  <a:tcPr marL="54864" marR="54864" marT="27432" marB="27432">
                    <a:solidFill>
                      <a:srgbClr val="176A5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BASE</a:t>
                      </a:r>
                    </a:p>
                  </a:txBody>
                  <a:tcPr marL="54864" marR="54864" marT="27432" marB="27432">
                    <a:solidFill>
                      <a:srgbClr val="176A5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Адаптированный стресс</a:t>
                      </a:r>
                    </a:p>
                  </a:txBody>
                  <a:tcPr marL="54864" marR="54864" marT="27432" marB="27432">
                    <a:solidFill>
                      <a:srgbClr val="176A5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3B40"/>
                          </a:solidFill>
                          <a:latin typeface="Arial"/>
                        </a:rPr>
                        <a:t>Закупка</a:t>
                      </a:r>
                    </a:p>
                  </a:txBody>
                  <a:tcPr marL="54864" marR="54864" marT="27432" marB="27432"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3B40"/>
                          </a:solidFill>
                          <a:latin typeface="Arial"/>
                        </a:rPr>
                        <a:t>9 683,8</a:t>
                      </a:r>
                    </a:p>
                  </a:txBody>
                  <a:tcPr marL="54864" marR="54864" marT="27432" marB="27432"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3B40"/>
                          </a:solidFill>
                          <a:latin typeface="Arial"/>
                        </a:rPr>
                        <a:t>11 482,3</a:t>
                      </a:r>
                    </a:p>
                  </a:txBody>
                  <a:tcPr marL="54864" marR="54864" marT="27432" marB="27432">
                    <a:solidFill>
                      <a:srgbClr val="F7F9F7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3B40"/>
                          </a:solidFill>
                          <a:latin typeface="Arial"/>
                        </a:rPr>
                        <a:t>Резерв мощности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3B40"/>
                          </a:solidFill>
                          <a:latin typeface="Arial"/>
                        </a:rPr>
                        <a:t>578,8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3B40"/>
                          </a:solidFill>
                          <a:latin typeface="Arial"/>
                        </a:rPr>
                        <a:t>604,8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3B40"/>
                          </a:solidFill>
                          <a:latin typeface="Arial"/>
                        </a:rPr>
                        <a:t>Хранение</a:t>
                      </a:r>
                    </a:p>
                  </a:txBody>
                  <a:tcPr marL="54864" marR="54864" marT="27432" marB="27432"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3B40"/>
                          </a:solidFill>
                          <a:latin typeface="Arial"/>
                        </a:rPr>
                        <a:t>135,7</a:t>
                      </a:r>
                    </a:p>
                  </a:txBody>
                  <a:tcPr marL="54864" marR="54864" marT="27432" marB="27432"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3B40"/>
                          </a:solidFill>
                          <a:latin typeface="Arial"/>
                        </a:rPr>
                        <a:t>142,5</a:t>
                      </a:r>
                    </a:p>
                  </a:txBody>
                  <a:tcPr marL="54864" marR="54864" marT="27432" marB="27432">
                    <a:solidFill>
                      <a:srgbClr val="F7F9F7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3B40"/>
                          </a:solidFill>
                          <a:latin typeface="Arial"/>
                        </a:rPr>
                        <a:t>Постоянный OPEX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3B40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3B40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3B40"/>
                          </a:solidFill>
                          <a:latin typeface="Arial"/>
                        </a:rPr>
                        <a:t>CAPEX</a:t>
                      </a:r>
                    </a:p>
                  </a:txBody>
                  <a:tcPr marL="54864" marR="54864" marT="27432" marB="27432"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3B40"/>
                          </a:solidFill>
                          <a:latin typeface="Arial"/>
                        </a:rPr>
                        <a:t>540</a:t>
                      </a:r>
                    </a:p>
                  </a:txBody>
                  <a:tcPr marL="54864" marR="54864" marT="27432" marB="27432"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3B40"/>
                          </a:solidFill>
                          <a:latin typeface="Arial"/>
                        </a:rPr>
                        <a:t>540</a:t>
                      </a:r>
                    </a:p>
                  </a:txBody>
                  <a:tcPr marL="54864" marR="54864" marT="27432" marB="27432">
                    <a:solidFill>
                      <a:srgbClr val="F7F9F7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3B40"/>
                          </a:solidFill>
                          <a:latin typeface="Arial"/>
                        </a:rPr>
                        <a:t>Полные затраты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3B40"/>
                          </a:solidFill>
                          <a:latin typeface="Arial"/>
                        </a:rPr>
                        <a:t>10 980,3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3B40"/>
                          </a:solidFill>
                          <a:latin typeface="Arial"/>
                        </a:rPr>
                        <a:t>12 811,6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3B40"/>
                          </a:solidFill>
                          <a:latin typeface="Arial"/>
                        </a:rPr>
                        <a:t>PV затрат</a:t>
                      </a:r>
                    </a:p>
                  </a:txBody>
                  <a:tcPr marL="54864" marR="54864" marT="27432" marB="27432"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3B40"/>
                          </a:solidFill>
                          <a:latin typeface="Arial"/>
                        </a:rPr>
                        <a:t>8 729,4</a:t>
                      </a:r>
                    </a:p>
                  </a:txBody>
                  <a:tcPr marL="54864" marR="54864" marT="27432" marB="27432"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3B40"/>
                          </a:solidFill>
                          <a:latin typeface="Arial"/>
                        </a:rPr>
                        <a:t>10 097,5</a:t>
                      </a:r>
                    </a:p>
                  </a:txBody>
                  <a:tcPr marL="54864" marR="54864" marT="27432" marB="27432">
                    <a:solidFill>
                      <a:srgbClr val="F7F9F7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3B40"/>
                          </a:solidFill>
                          <a:latin typeface="Arial"/>
                        </a:rPr>
                        <a:t>Стоимость обслуженной тонны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3B40"/>
                          </a:solidFill>
                          <a:latin typeface="Arial"/>
                        </a:rPr>
                        <a:t>7,899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3B40"/>
                          </a:solidFill>
                          <a:latin typeface="Arial"/>
                        </a:rPr>
                        <a:t>8,352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3B40"/>
                          </a:solidFill>
                          <a:latin typeface="Arial"/>
                        </a:rPr>
                        <a:t>Оплаченный простой take-or-pay, т</a:t>
                      </a:r>
                    </a:p>
                  </a:txBody>
                  <a:tcPr marL="54864" marR="54864" marT="27432" marB="27432"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3B40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27432" marB="27432"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3B40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27432" marB="27432">
                    <a:solidFill>
                      <a:srgbClr val="F7F9F7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589520" y="5669280"/>
            <a:ext cx="4297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00" b="0">
                <a:solidFill>
                  <a:srgbClr val="5B6F73"/>
                </a:solidFill>
                <a:latin typeface="Arial"/>
              </a:rPr>
              <a:t>Выручка не задана: результат — минимальная стоимость обеспечения, а не прибыль. Ворота: 2035-01 опцион, 2037-01 приёмка Earth-New, 2037-07 ZBO, ежегодный пересчёт заказов.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42F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Стресс-тесты: чувствительность, сроки реакции, обратный стресс, Монте-Карло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24128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0">
                <a:solidFill>
                  <a:srgbClr val="5B6F73"/>
                </a:solidFill>
                <a:latin typeface="Arial"/>
              </a:rPr>
              <a:t>Каждый тест — воспроизводимый протокол с целью, параметрами, метриками и критерием нарушения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B6F73"/>
                </a:solidFill>
                <a:latin typeface="Arial"/>
              </a:rPr>
              <a:t>TerraPlan · КосмоХакатон 2026 · кейс 2 · млн у.е. в ценах 2035 г., PV по ставке 8 %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465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B6F73"/>
                </a:solidFill>
                <a:latin typeface="Arial"/>
              </a:rPr>
              <a:t>8 / 12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554480"/>
          <a:ext cx="11247119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194560"/>
                <a:gridCol w="4937760"/>
                <a:gridCol w="2103119"/>
              </a:tblGrid>
              <a:tr h="77724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Тест</a:t>
                      </a:r>
                    </a:p>
                  </a:txBody>
                  <a:tcPr marL="54864" marR="54864" marT="27432" marB="27432">
                    <a:solidFill>
                      <a:srgbClr val="176A5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Что варьируется</a:t>
                      </a:r>
                    </a:p>
                  </a:txBody>
                  <a:tcPr marL="54864" marR="54864" marT="27432" marB="27432">
                    <a:solidFill>
                      <a:srgbClr val="176A5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Результат</a:t>
                      </a:r>
                    </a:p>
                  </a:txBody>
                  <a:tcPr marL="54864" marR="54864" marT="27432" marB="27432">
                    <a:solidFill>
                      <a:srgbClr val="176A5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Вывод</a:t>
                      </a:r>
                    </a:p>
                  </a:txBody>
                  <a:tcPr marL="54864" marR="54864" marT="27432" marB="27432">
                    <a:solidFill>
                      <a:srgbClr val="176A5B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3B40"/>
                          </a:solidFill>
                          <a:latin typeface="Arial"/>
                        </a:rPr>
                        <a:t>Низкий / высокий спрос (P2z)</a:t>
                      </a:r>
                    </a:p>
                  </a:txBody>
                  <a:tcPr marL="54864" marR="54864" marT="27432" marB="27432"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3B40"/>
                          </a:solidFill>
                          <a:latin typeface="Arial"/>
                        </a:rPr>
                        <a:t>−20 % / +10…+25 %</a:t>
                      </a:r>
                    </a:p>
                  </a:txBody>
                  <a:tcPr marL="54864" marR="54864" marT="27432" marB="27432"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3B40"/>
                          </a:solidFill>
                          <a:latin typeface="Arial"/>
                        </a:rPr>
                        <a:t>без изменений: 43 переполнений (низкий), дефицит 234,9 т (высокий); перепланирование: 6 944 / 10 239 млн PV, дефицит 2,557 т</a:t>
                      </a:r>
                    </a:p>
                  </a:txBody>
                  <a:tcPr marL="54864" marR="54864" marT="27432" marB="27432"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3B40"/>
                          </a:solidFill>
                          <a:latin typeface="Arial"/>
                        </a:rPr>
                        <a:t>план пересматривается под прогноз, а не фиксируется</a:t>
                      </a:r>
                    </a:p>
                  </a:txBody>
                  <a:tcPr marL="54864" marR="54864" marT="27432" marB="27432">
                    <a:solidFill>
                      <a:srgbClr val="F7F9F7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3B40"/>
                          </a:solidFill>
                          <a:latin typeface="Arial"/>
                        </a:rPr>
                        <a:t>Чувствительность (P3)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3B40"/>
                          </a:solidFill>
                          <a:latin typeface="Arial"/>
                        </a:rPr>
                        <a:t>спрос, доля ISRU, цена, ставка, лаг ZBO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3B40"/>
                          </a:solidFill>
                          <a:latin typeface="Arial"/>
                        </a:rPr>
                        <a:t>цена земных каналов ×0,8…×1,5 → PV 7 457…11 594 (самый чувствительный); первые неуспешные точки: спрос ×1,0500, ISRU 0,9500, лаг ZBO 10 мес.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3B40"/>
                          </a:solidFill>
                          <a:latin typeface="Arial"/>
                        </a:rPr>
                        <a:t>для P2z порог не используется: любое изменение прогноза запускает пересчёт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3B40"/>
                          </a:solidFill>
                          <a:latin typeface="Arial"/>
                        </a:rPr>
                        <a:t>Реакция после наблюдения (P3)</a:t>
                      </a:r>
                    </a:p>
                  </a:txBody>
                  <a:tcPr marL="54864" marR="54864" marT="27432" marB="27432"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3B40"/>
                          </a:solidFill>
                          <a:latin typeface="Arial"/>
                        </a:rPr>
                        <a:t>Emergency с 2038-05, Flex с 2038-07</a:t>
                      </a:r>
                    </a:p>
                  </a:txBody>
                  <a:tcPr marL="54864" marR="54864" marT="27432" marB="27432"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3B40"/>
                          </a:solidFill>
                          <a:latin typeface="Arial"/>
                        </a:rPr>
                        <a:t>дефицит 0,866 т, сервис 0,997, PV 11 135 против 10 637 при адаптации</a:t>
                      </a:r>
                    </a:p>
                  </a:txBody>
                  <a:tcPr marL="54864" marR="54864" marT="27432" marB="27432"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3B40"/>
                          </a:solidFill>
                          <a:latin typeface="Arial"/>
                        </a:rPr>
                        <a:t>резерв января 2038 реакция не спасает</a:t>
                      </a:r>
                    </a:p>
                  </a:txBody>
                  <a:tcPr marL="54864" marR="54864" marT="27432" marB="27432">
                    <a:solidFill>
                      <a:srgbClr val="F7F9F7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3B40"/>
                          </a:solidFill>
                          <a:latin typeface="Arial"/>
                        </a:rPr>
                        <a:t>Обратный стресс и меры (P3)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3B40"/>
                          </a:solidFill>
                          <a:latin typeface="Arial"/>
                        </a:rPr>
                        <a:t>совместные шоки спроса и ISRU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3B40"/>
                          </a:solidFill>
                          <a:latin typeface="Arial"/>
                        </a:rPr>
                        <a:t>граница адаптированного плана ≈ 0.000055 % — численный люфт; физический запас (8,6 т) = 83,7 млн PV; ранний ZBO + запас (0,1 т) = 49,5 млн PV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3B40"/>
                          </a:solidFill>
                          <a:latin typeface="Arial"/>
                        </a:rPr>
                        <a:t>устойчивость покупается физическим запасом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3B40"/>
                          </a:solidFill>
                          <a:latin typeface="Arial"/>
                        </a:rPr>
                        <a:t>Монте-Карло (P3)</a:t>
                      </a:r>
                    </a:p>
                  </a:txBody>
                  <a:tcPr marL="54864" marR="54864" marT="27432" marB="27432"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3B40"/>
                          </a:solidFill>
                          <a:latin typeface="Arial"/>
                        </a:rPr>
                        <a:t>N = 10 000, seed 203510, спрос и ISRU U(0; 2 %), цены ±10 %</a:t>
                      </a:r>
                    </a:p>
                  </a:txBody>
                  <a:tcPr marL="54864" marR="54864" marT="27432" marB="27432"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3B40"/>
                          </a:solidFill>
                          <a:latin typeface="Arial"/>
                        </a:rPr>
                        <a:t>отказ 100,00 % без защиты → 49,43 % (запас) и 49,59 % (ZBO + запас); доплата 83,7 / 49,5 млн PV</a:t>
                      </a:r>
                    </a:p>
                  </a:txBody>
                  <a:tcPr marL="54864" marR="54864" marT="27432" marB="27432"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3B40"/>
                          </a:solidFill>
                          <a:latin typeface="Arial"/>
                        </a:rPr>
                        <a:t>условные частоты модели, не вероятности реальных событий</a:t>
                      </a:r>
                    </a:p>
                  </a:txBody>
                  <a:tcPr marL="54864" marR="54864" marT="27432" marB="27432">
                    <a:solidFill>
                      <a:srgbClr val="F7F9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42F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Риски выбранного плана и цена защиты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24128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0">
                <a:solidFill>
                  <a:srgbClr val="5B6F73"/>
                </a:solidFill>
                <a:latin typeface="Arial"/>
              </a:rPr>
              <a:t>Последствия рассчитаны контуром; для ключевого риска — задержки Earth-New — оценены две меры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B6F73"/>
                </a:solidFill>
                <a:latin typeface="Arial"/>
              </a:rPr>
              <a:t>TerraPlan · КосмоХакатон 2026 · кейс 2 · млн у.е. в ценах 2035 г., PV по ставке 8 %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465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B6F73"/>
                </a:solidFill>
                <a:latin typeface="Arial"/>
              </a:rPr>
              <a:t>9 / 12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554480"/>
          <a:ext cx="11247119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19"/>
                <a:gridCol w="3108960"/>
                <a:gridCol w="4023360"/>
                <a:gridCol w="2011680"/>
              </a:tblGrid>
              <a:tr h="67926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Риск</a:t>
                      </a:r>
                    </a:p>
                  </a:txBody>
                  <a:tcPr marL="54864" marR="54864" marT="27432" marB="27432">
                    <a:solidFill>
                      <a:srgbClr val="176A5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Последствие без мер</a:t>
                      </a:r>
                    </a:p>
                  </a:txBody>
                  <a:tcPr marL="54864" marR="54864" marT="27432" marB="27432">
                    <a:solidFill>
                      <a:srgbClr val="176A5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Мера и её стоимость, млн PV</a:t>
                      </a:r>
                    </a:p>
                  </a:txBody>
                  <a:tcPr marL="54864" marR="54864" marT="27432" marB="27432">
                    <a:solidFill>
                      <a:srgbClr val="176A5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Остаточный риск</a:t>
                      </a:r>
                    </a:p>
                  </a:txBody>
                  <a:tcPr marL="54864" marR="54864" marT="27432" marB="27432">
                    <a:solidFill>
                      <a:srgbClr val="176A5B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3B40"/>
                          </a:solidFill>
                          <a:latin typeface="Arial"/>
                        </a:rPr>
                        <a:t>Задержка ввода Earth-New на 3 / 6 / 12 мес.</a:t>
                      </a:r>
                    </a:p>
                  </a:txBody>
                  <a:tcPr marL="54864" marR="54864" marT="27432" marB="27432"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3B40"/>
                          </a:solidFill>
                          <a:latin typeface="Arial"/>
                        </a:rPr>
                        <a:t>сервис 100 %, но резерв нарушен в 2038–2040: разрыв до 3,148 / 6,297 / 12,812 т; топливо остаётся оплаченным</a:t>
                      </a:r>
                    </a:p>
                  </a:txBody>
                  <a:tcPr marL="54864" marR="54864" marT="27432" marB="27432"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3B40"/>
                          </a:solidFill>
                          <a:latin typeface="Arial"/>
                        </a:rPr>
                        <a:t>реакция Earth-Flex после наблюдения (срок 4 мес.): 3,214 / 6,428 / 13,078 т за +30,6 / +61,2 / +124,5; буфер заранее +34,7 / +69,3 / +141,1, оплачивается и без задержки</a:t>
                      </a:r>
                    </a:p>
                  </a:txBody>
                  <a:tcPr marL="54864" marR="54864" marT="27432" marB="27432"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3B40"/>
                          </a:solidFill>
                          <a:latin typeface="Arial"/>
                        </a:rPr>
                        <a:t>уведомление позже августа 2037 не оставляет времени на реакцию; задержка &gt; 12 мес. не рассчитана</a:t>
                      </a:r>
                    </a:p>
                  </a:txBody>
                  <a:tcPr marL="54864" marR="54864" marT="27432" marB="27432">
                    <a:solidFill>
                      <a:srgbClr val="F7F9F7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3B40"/>
                          </a:solidFill>
                          <a:latin typeface="Arial"/>
                        </a:rPr>
                        <a:t>Спрос выше базового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3B40"/>
                          </a:solidFill>
                          <a:latin typeface="Arial"/>
                        </a:rPr>
                        <a:t>дефицит 95,9 т в стрессе; 234,9 т в высоком варианте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3B40"/>
                          </a:solidFill>
                          <a:latin typeface="Arial"/>
                        </a:rPr>
                        <a:t>адаптация заранее +954,6; перепланирование под высокий спрос 10 239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3B40"/>
                          </a:solidFill>
                          <a:latin typeface="Arial"/>
                        </a:rPr>
                        <a:t>нулевой запас прочности фиксированного графика: ежегодный пересчёт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3B40"/>
                          </a:solidFill>
                          <a:latin typeface="Arial"/>
                        </a:rPr>
                        <a:t>Спрос ниже базового</a:t>
                      </a:r>
                    </a:p>
                  </a:txBody>
                  <a:tcPr marL="54864" marR="54864" marT="27432" marB="27432"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3B40"/>
                          </a:solidFill>
                          <a:latin typeface="Arial"/>
                        </a:rPr>
                        <a:t>43 переполнения хранилища, +340,7 млн PV</a:t>
                      </a:r>
                    </a:p>
                  </a:txBody>
                  <a:tcPr marL="54864" marR="54864" marT="27432" marB="27432"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3B40"/>
                          </a:solidFill>
                          <a:latin typeface="Arial"/>
                        </a:rPr>
                        <a:t>сокращение заказов и резервов: 6 944 млн PV</a:t>
                      </a:r>
                    </a:p>
                  </a:txBody>
                  <a:tcPr marL="54864" marR="54864" marT="27432" marB="27432"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3B40"/>
                          </a:solidFill>
                          <a:latin typeface="Arial"/>
                        </a:rPr>
                        <a:t>take-or-pay ограничивает сокращение при замороженных резервах</a:t>
                      </a:r>
                    </a:p>
                  </a:txBody>
                  <a:tcPr marL="54864" marR="54864" marT="27432" marB="27432">
                    <a:solidFill>
                      <a:srgbClr val="F7F9F7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3B40"/>
                          </a:solidFill>
                          <a:latin typeface="Arial"/>
                        </a:rPr>
                        <a:t>Рост цен земных каналов, геополитика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3B40"/>
                          </a:solidFill>
                          <a:latin typeface="Arial"/>
                        </a:rPr>
                        <a:t>+470,9 млн PV при +25 % в 2038–2039, без физических последствий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3B40"/>
                          </a:solidFill>
                          <a:latin typeface="Arial"/>
                        </a:rPr>
                        <a:t>индексация с cap/collar (предложено); Earth-New без индексации; блок геополитики в интерфейсе для любого сценария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3B40"/>
                          </a:solidFill>
                          <a:latin typeface="Arial"/>
                        </a:rPr>
                        <a:t>доля Earth-Core и Earth-Flex в закупках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3B40"/>
                          </a:solidFill>
                          <a:latin typeface="Arial"/>
                        </a:rPr>
                        <a:t>Задержка ZBO</a:t>
                      </a:r>
                    </a:p>
                  </a:txBody>
                  <a:tcPr marL="54864" marR="54864" marT="27432" marB="27432"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3B40"/>
                          </a:solidFill>
                          <a:latin typeface="Arial"/>
                        </a:rPr>
                        <a:t>потолок потерь 2 % нарушается при лаге 10 мес.</a:t>
                      </a:r>
                    </a:p>
                  </a:txBody>
                  <a:tcPr marL="54864" marR="54864" marT="27432" marB="27432"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3B40"/>
                          </a:solidFill>
                          <a:latin typeface="Arial"/>
                        </a:rPr>
                        <a:t>приёмка и мера за задержку в договоре; решение не позже 2037-07</a:t>
                      </a:r>
                    </a:p>
                  </a:txBody>
                  <a:tcPr marL="54864" marR="54864" marT="27432" marB="27432"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3B40"/>
                          </a:solidFill>
                          <a:latin typeface="Arial"/>
                        </a:rPr>
                        <a:t>цена задержки для P2z не рассчитана</a:t>
                      </a:r>
                    </a:p>
                  </a:txBody>
                  <a:tcPr marL="54864" marR="54864" marT="27432" marB="27432">
                    <a:solidFill>
                      <a:srgbClr val="F7F9F7"/>
                    </a:solidFill>
                  </a:tcPr>
                </a:tc>
              </a:tr>
              <a:tr h="679272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3B40"/>
                          </a:solidFill>
                          <a:latin typeface="Arial"/>
                        </a:rPr>
                        <a:t>Недопоставка ISRU (исключён)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3B40"/>
                          </a:solidFill>
                          <a:latin typeface="Arial"/>
                        </a:rPr>
                        <a:t>для P3: дефицит 170,0 т, адаптация +1 605,0 млн PV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3B40"/>
                          </a:solidFill>
                          <a:latin typeface="Arial"/>
                        </a:rPr>
                        <a:t>исключён выбором P2z ценой +90,5 млн PV в BASE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3B40"/>
                          </a:solidFill>
                          <a:latin typeface="Arial"/>
                        </a:rPr>
                        <a:t>экономика после 2040 не рассчитана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42F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Контракты и интересы сторон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24128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0">
                <a:solidFill>
                  <a:srgbClr val="5B6F73"/>
                </a:solidFill>
                <a:latin typeface="Arial"/>
              </a:rPr>
              <a:t>Кто получает топливо, кто несёт затраты и риск после предлагаемых условий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B6F73"/>
                </a:solidFill>
                <a:latin typeface="Arial"/>
              </a:rPr>
              <a:t>TerraPlan · КосмоХакатон 2026 · кейс 2 · млн у.е. в ценах 2035 г., PV по ставке 8 %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465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B6F73"/>
                </a:solidFill>
                <a:latin typeface="Arial"/>
              </a:rPr>
              <a:t>10 / 12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554480"/>
          <a:ext cx="11247119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377440"/>
                <a:gridCol w="4480560"/>
                <a:gridCol w="2560319"/>
              </a:tblGrid>
              <a:tr h="52578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Сторона</a:t>
                      </a:r>
                    </a:p>
                  </a:txBody>
                  <a:tcPr marL="54864" marR="54864" marT="27432" marB="27432">
                    <a:solidFill>
                      <a:srgbClr val="176A5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Интерес и показатель</a:t>
                      </a:r>
                    </a:p>
                  </a:txBody>
                  <a:tcPr marL="54864" marR="54864" marT="27432" marB="27432">
                    <a:solidFill>
                      <a:srgbClr val="176A5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Обязательство (предлагаемые условия — допущение команды)</a:t>
                      </a:r>
                    </a:p>
                  </a:txBody>
                  <a:tcPr marL="54864" marR="54864" marT="27432" marB="27432">
                    <a:solidFill>
                      <a:srgbClr val="176A5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Несёт после условия</a:t>
                      </a:r>
                    </a:p>
                  </a:txBody>
                  <a:tcPr marL="54864" marR="54864" marT="27432" marB="27432">
                    <a:solidFill>
                      <a:srgbClr val="176A5B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3B40"/>
                          </a:solidFill>
                          <a:latin typeface="Arial"/>
                        </a:rPr>
                        <a:t>Оператор узла</a:t>
                      </a:r>
                    </a:p>
                  </a:txBody>
                  <a:tcPr marL="54864" marR="54864" marT="27432" marB="27432"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3B40"/>
                          </a:solidFill>
                          <a:latin typeface="Arial"/>
                        </a:rPr>
                        <a:t>0 жёстких нарушений; PV; стоимость тонны</a:t>
                      </a:r>
                    </a:p>
                  </a:txBody>
                  <a:tcPr marL="54864" marR="54864" marT="27432" marB="27432"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3B40"/>
                          </a:solidFill>
                          <a:latin typeface="Arial"/>
                        </a:rPr>
                        <a:t>номинация Earth-Core за 12 мес., Earth-Flex за 4 мес., Emergency за 6 недель; физический резерв</a:t>
                      </a:r>
                    </a:p>
                  </a:txBody>
                  <a:tcPr marL="54864" marR="54864" marT="27432" marB="27432"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3B40"/>
                          </a:solidFill>
                          <a:latin typeface="Arial"/>
                        </a:rPr>
                        <a:t>CAPEX 540, резерв и take-or-pay, остаток сверх мер поставщиков</a:t>
                      </a:r>
                    </a:p>
                  </a:txBody>
                  <a:tcPr marL="54864" marR="54864" marT="27432" marB="27432">
                    <a:solidFill>
                      <a:srgbClr val="F7F9F7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3B40"/>
                          </a:solidFill>
                          <a:latin typeface="Arial"/>
                        </a:rPr>
                        <a:t>Критические потребители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3B40"/>
                          </a:solidFill>
                          <a:latin typeface="Arial"/>
                        </a:rPr>
                        <a:t>критический сервис ≥ 99 %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3B40"/>
                          </a:solidFill>
                          <a:latin typeface="Arial"/>
                        </a:rPr>
                        <a:t>приоритет критического спроса и резерв не отменяются весами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3B40"/>
                          </a:solidFill>
                          <a:latin typeface="Arial"/>
                        </a:rPr>
                        <a:t>прямые затраты не моделируются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3B40"/>
                          </a:solidFill>
                          <a:latin typeface="Arial"/>
                        </a:rPr>
                        <a:t>Коммерческие потребители</a:t>
                      </a:r>
                    </a:p>
                  </a:txBody>
                  <a:tcPr marL="54864" marR="54864" marT="27432" marB="27432"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3B40"/>
                          </a:solidFill>
                          <a:latin typeface="Arial"/>
                        </a:rPr>
                        <a:t>общий сервис ≥ 97 %; предсказуемая цена</a:t>
                      </a:r>
                    </a:p>
                  </a:txBody>
                  <a:tcPr marL="54864" marR="54864" marT="27432" marB="27432"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3B40"/>
                          </a:solidFill>
                          <a:latin typeface="Arial"/>
                        </a:rPr>
                        <a:t>прозрачный тариф, уведомление об изменении заказов</a:t>
                      </a:r>
                    </a:p>
                  </a:txBody>
                  <a:tcPr marL="54864" marR="54864" marT="27432" marB="27432"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3B40"/>
                          </a:solidFill>
                          <a:latin typeface="Arial"/>
                        </a:rPr>
                        <a:t>первый физический дефицит при непересмотренном плане</a:t>
                      </a:r>
                    </a:p>
                  </a:txBody>
                  <a:tcPr marL="54864" marR="54864" marT="27432" marB="27432">
                    <a:solidFill>
                      <a:srgbClr val="F7F9F7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3B40"/>
                          </a:solidFill>
                          <a:latin typeface="Arial"/>
                        </a:rPr>
                        <a:t>Earth-Core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3B40"/>
                          </a:solidFill>
                          <a:latin typeface="Arial"/>
                        </a:rPr>
                        <a:t>стабильный доход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3B40"/>
                          </a:solidFill>
                          <a:latin typeface="Arial"/>
                        </a:rPr>
                        <a:t>take-or-pay 70 % только на доступную мощность; индексация с cap/collar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3B40"/>
                          </a:solidFill>
                          <a:latin typeface="Arial"/>
                        </a:rPr>
                        <a:t>вменяемая недоступность до лимита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3B40"/>
                          </a:solidFill>
                          <a:latin typeface="Arial"/>
                        </a:rPr>
                        <a:t>Earth-New</a:t>
                      </a:r>
                    </a:p>
                  </a:txBody>
                  <a:tcPr marL="54864" marR="54864" marT="27432" marB="27432"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3B40"/>
                          </a:solidFill>
                          <a:latin typeface="Arial"/>
                        </a:rPr>
                        <a:t>финансирование 130 т/год</a:t>
                      </a:r>
                    </a:p>
                  </a:txBody>
                  <a:tcPr marL="54864" marR="54864" marT="27432" marB="27432"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3B40"/>
                          </a:solidFill>
                          <a:latin typeface="Arial"/>
                        </a:rPr>
                        <a:t>опцион 90 → реализация 270; этапы, приёмка до старта take-or-pay 50 %, мера за задержку</a:t>
                      </a:r>
                    </a:p>
                  </a:txBody>
                  <a:tcPr marL="54864" marR="54864" marT="27432" marB="27432"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3B40"/>
                          </a:solidFill>
                          <a:latin typeface="Arial"/>
                        </a:rPr>
                        <a:t>вменяемая задержка до лимита; оператор — остаток</a:t>
                      </a:r>
                    </a:p>
                  </a:txBody>
                  <a:tcPr marL="54864" marR="54864" marT="27432" marB="27432">
                    <a:solidFill>
                      <a:srgbClr val="F7F9F7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3B40"/>
                          </a:solidFill>
                          <a:latin typeface="Arial"/>
                        </a:rPr>
                        <a:t>Earth-Flex, Emergency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3B40"/>
                          </a:solidFill>
                          <a:latin typeface="Arial"/>
                        </a:rPr>
                        <a:t>оплачиваемые вызовы, плата за готовность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3B40"/>
                          </a:solidFill>
                          <a:latin typeface="Arial"/>
                        </a:rPr>
                        <a:t>вызов за 4 мес. / 6 недель; SLA; take-or-pay нет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3B40"/>
                          </a:solidFill>
                          <a:latin typeface="Arial"/>
                        </a:rPr>
                        <a:t>срыв подтверждённого вызова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3B40"/>
                          </a:solidFill>
                          <a:latin typeface="Arial"/>
                        </a:rPr>
                        <a:t>Финансист</a:t>
                      </a:r>
                    </a:p>
                  </a:txBody>
                  <a:tcPr marL="54864" marR="54864" marT="27432" marB="27432"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3B40"/>
                          </a:solidFill>
                          <a:latin typeface="Arial"/>
                        </a:rPr>
                        <a:t>лимит CAPEX, необратимый риск</a:t>
                      </a:r>
                    </a:p>
                  </a:txBody>
                  <a:tcPr marL="54864" marR="54864" marT="27432" marB="27432"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3B40"/>
                          </a:solidFill>
                          <a:latin typeface="Arial"/>
                        </a:rPr>
                        <a:t>этапный опцион, ворота решений, доказательства этапов</a:t>
                      </a:r>
                    </a:p>
                  </a:txBody>
                  <a:tcPr marL="54864" marR="54864" marT="27432" marB="27432"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3B40"/>
                          </a:solidFill>
                          <a:latin typeface="Arial"/>
                        </a:rPr>
                        <a:t>капитал под риском на 890 млн ниже P3</a:t>
                      </a:r>
                    </a:p>
                  </a:txBody>
                  <a:tcPr marL="54864" marR="54864" marT="27432" marB="27432">
                    <a:solidFill>
                      <a:srgbClr val="F7F9F7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5806440"/>
            <a:ext cx="112471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00" b="0">
                <a:solidFill>
                  <a:srgbClr val="5B6F73"/>
                </a:solidFill>
                <a:latin typeface="Arial"/>
              </a:rPr>
              <a:t>Изменение рисков меняет решения и баланс интересов: подтверждение стресса → адаптированный график (оператор платит, потребители избегают дефицита); падение спроса → сокращаются сначала каналы без take-or-pay; срыв этапа Earth-New → замещение Earth-Flex и договорная мера. Цена договорных гарантий в PV не включена.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42F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Цифровой контур: интерфейс, сохранение, выгрузка, расширение, геополитика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24128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0">
                <a:solidFill>
                  <a:srgbClr val="5B6F73"/>
                </a:solidFill>
                <a:latin typeface="Arial"/>
              </a:rPr>
              <a:t>Локальный интерфейс без интернета; все числа — из одного расчётного ядра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B6F73"/>
                </a:solidFill>
                <a:latin typeface="Arial"/>
              </a:rPr>
              <a:t>TerraPlan · КосмоХакатон 2026 · кейс 2 · млн у.е. в ценах 2035 г., PV по ставке 8 %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465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B6F73"/>
                </a:solidFill>
                <a:latin typeface="Arial"/>
              </a:rPr>
              <a:t>11 /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5448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0">
                <a:solidFill>
                  <a:srgbClr val="183B40"/>
                </a:solidFill>
                <a:latin typeface="Arial"/>
              </a:rPr>
              <a:t>• Разделы: Обзор (KPI, баланс и расходы по годам, помесячный запас, календарь поставок), Решения (заказы с помесячным профилем, резервы, инвестиции, начальный запас), Данные и контракты (правка цен и условий на копии данных с описанием допущения), Ограничения (нарушения с годом, величиной и причиной; полная матрица), Сравнение (A ↔ B, выгрузка CSV), Геополитика.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0">
                <a:solidFill>
                  <a:srgbClr val="183B40"/>
                </a:solidFill>
                <a:latin typeface="Arial"/>
              </a:rPr>
              <a:t>• Ошибочный ввод — понятное сообщение с названием поля и значения; ограничения задания недоступны для изменения.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0">
                <a:solidFill>
                  <a:srgbClr val="183B40"/>
                </a:solidFill>
                <a:latin typeface="Arial"/>
              </a:rPr>
              <a:t>• Сохранение и повторное открытие рабочего файла (план, сценарий, копия данных, допущения, настройки шока); выгрузка XLSX и архива CSV/JSON с матрицей проверок, календарём и хешами расчёта; распакованный архив проверяется командой пересчёта.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0">
                <a:solidFill>
                  <a:srgbClr val="183B40"/>
                </a:solidFill>
                <a:latin typeface="Arial"/>
              </a:rPr>
              <a:t>• Расширение на копии данных: источник Source-X и 2041 год — 7 лет, PV 10 271 млн, обслужено 1 840 т, исполним: да; ограничения задания сохранены.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0">
                <a:solidFill>
                  <a:srgbClr val="183B40"/>
                </a:solidFill>
                <a:latin typeface="Arial"/>
              </a:rPr>
              <a:t>• Дополнительный блок геополитики: оператор задаёт событие, каналы, годы, направление и величину изменения цены и правило сочетания со стрессом (один эффект не начисляется дважды); сравнение до/после, таблица эффективных цен, восстановление исходных цен. Пример +25 % для Earth-Core и Earth-Flex в 2038–2039: +470,892 млн PV для P2z без физических последствий.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42F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Итоги, границы и передача решения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24128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0">
                <a:solidFill>
                  <a:srgbClr val="5B6F73"/>
                </a:solidFill>
                <a:latin typeface="Arial"/>
              </a:rPr>
              <a:t>Решение проверяемо: числа записки, интерфейса и выгрузок совпадают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B6F73"/>
                </a:solidFill>
                <a:latin typeface="Arial"/>
              </a:rPr>
              <a:t>TerraPlan · КосмоХакатон 2026 · кейс 2 · млн у.е. в ценах 2035 г., PV по ставке 8 %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465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B6F73"/>
                </a:solidFill>
                <a:latin typeface="Arial"/>
              </a:rPr>
              <a:t>12 /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5448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0">
                <a:solidFill>
                  <a:srgbClr val="183B40"/>
                </a:solidFill>
                <a:latin typeface="Arial"/>
              </a:rPr>
              <a:t>• Решение: P2z — Earth-Core + Earth-Flex + Earth-New (2035-01 → ввод 2037-01) + ZBO (2037-07); Emergency только как резерв; ISRU не финансируется до 2040.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0">
                <a:solidFill>
                  <a:srgbClr val="183B40"/>
                </a:solidFill>
                <a:latin typeface="Arial"/>
              </a:rPr>
              <a:t>• Стандартный сценарий: PV 8 729,404 млн, дефицит 0, все проверки выполнены. Обязательный стресс: без изменения заказов дефицит 95,917 т и нарушения резерва; после заблаговременной адаптации PV 10 097,472 млн, дефицит 0, нарушений 0.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0">
                <a:solidFill>
                  <a:srgbClr val="183B40"/>
                </a:solidFill>
                <a:latin typeface="Arial"/>
              </a:rPr>
              <a:t>• Цена решений: адаптация к стрессу +954,574 млн PV; защита от задержки Earth-New +30,6 … +124,5 млн PV; ценовой шок +25 % +470,9 млн PV.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0">
                <a:solidFill>
                  <a:srgbClr val="183B40"/>
                </a:solidFill>
                <a:latin typeface="Arial"/>
              </a:rPr>
              <a:t>• Не доказано и не заявляется: единый фиксированный график для обоих сценариев, устойчивость к совместным малым отклонениям для P2z, экономика после 2040 года, цена договорных гарантий.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0">
                <a:solidFill>
                  <a:srgbClr val="183B40"/>
                </a:solidFill>
                <a:latin typeface="Arial"/>
              </a:rPr>
              <a:t>• Дальнейшие шаги: буфер P2z против совместных отклонений, цена задержки ZBO, политика пересмотра заказов с информацией на дату заказа, горизонт 2041+.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0">
                <a:solidFill>
                  <a:srgbClr val="183B40"/>
                </a:solidFill>
                <a:latin typeface="Arial"/>
              </a:rPr>
              <a:t>• Передача: код, данные, конфигурации, сохранённые планы обоих сценариев, результаты, тесты и документация в репозитории; запуск — python -m terraplan ui; порядок проверки: установка → стандартный сценарий → обязательный стресс → дополнительные тесты → сравнение и выгрузка.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