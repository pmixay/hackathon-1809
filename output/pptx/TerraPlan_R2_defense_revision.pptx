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2ed70ef16b4595" /><Relationship Type="http://schemas.openxmlformats.org/officeDocument/2006/relationships/extended-properties" Target="/docProps/app.xml" Id="Rdd98242337154cb3" /><Relationship Type="http://schemas.openxmlformats.org/officeDocument/2006/relationships/officeDocument" Target="/ppt/presentation.xml" Id="R2855ccfe949a4d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560cca34b74e33"/>
  </p:sldMasterIdLst>
  <p:notesMasterIdLst>
    <p:notesMasterId xmlns:r="http://schemas.openxmlformats.org/officeDocument/2006/relationships" r:id="R4363fd7aee39427a"/>
  </p:notesMasterIdLst>
  <p:sldIdLst>
    <p:sldId xmlns:r="http://schemas.openxmlformats.org/officeDocument/2006/relationships" id="256" r:id="R406f7bad3d304fde"/>
    <p:sldId xmlns:r="http://schemas.openxmlformats.org/officeDocument/2006/relationships" id="257" r:id="Rd241207c2d334287"/>
    <p:sldId xmlns:r="http://schemas.openxmlformats.org/officeDocument/2006/relationships" id="258" r:id="Raca829b9d7e9401c"/>
    <p:sldId xmlns:r="http://schemas.openxmlformats.org/officeDocument/2006/relationships" id="259" r:id="R39344dad63534d94"/>
    <p:sldId xmlns:r="http://schemas.openxmlformats.org/officeDocument/2006/relationships" id="260" r:id="R8ef63b1636534029"/>
    <p:sldId xmlns:r="http://schemas.openxmlformats.org/officeDocument/2006/relationships" id="261" r:id="Ra2c622f124004581"/>
    <p:sldId xmlns:r="http://schemas.openxmlformats.org/officeDocument/2006/relationships" id="262" r:id="Rd7d54f43e104489b"/>
    <p:sldId xmlns:r="http://schemas.openxmlformats.org/officeDocument/2006/relationships" id="263" r:id="R17e1834eb1dc4ea9"/>
    <p:sldId xmlns:r="http://schemas.openxmlformats.org/officeDocument/2006/relationships" id="264" r:id="Re8755d06218b408d"/>
    <p:sldId xmlns:r="http://schemas.openxmlformats.org/officeDocument/2006/relationships" id="265" r:id="R10b22ad3cd094e02"/>
    <p:sldId xmlns:r="http://schemas.openxmlformats.org/officeDocument/2006/relationships" id="266" r:id="Re425a1c8adc04ae6"/>
    <p:sldId xmlns:r="http://schemas.openxmlformats.org/officeDocument/2006/relationships" id="267" r:id="R909b9ec8584b4f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1547eb55444391" /><Relationship Type="http://schemas.openxmlformats.org/officeDocument/2006/relationships/slideMaster" Target="/ppt/slideMasters/slideMaster1.xml" Id="R61560cca34b74e33" /><Relationship Type="http://schemas.openxmlformats.org/officeDocument/2006/relationships/notesMaster" Target="/ppt/notesMasters/notesMaster1.xml" Id="R4363fd7aee39427a" /><Relationship Type="http://schemas.openxmlformats.org/officeDocument/2006/relationships/presProps" Target="/ppt/presProps.xml" Id="Rcf181d9a12b54d09" /><Relationship Type="http://schemas.openxmlformats.org/officeDocument/2006/relationships/tableStyles" Target="/ppt/tableStyles.xml" Id="R2332e25b93b64dfd" /><Relationship Type="http://schemas.openxmlformats.org/officeDocument/2006/relationships/slide" Target="/ppt/slides/slide1.xml" Id="R406f7bad3d304fde" /><Relationship Type="http://schemas.openxmlformats.org/officeDocument/2006/relationships/slide" Target="/ppt/slides/slide2.xml" Id="Rd241207c2d334287" /><Relationship Type="http://schemas.openxmlformats.org/officeDocument/2006/relationships/slide" Target="/ppt/slides/slide3.xml" Id="Raca829b9d7e9401c" /><Relationship Type="http://schemas.openxmlformats.org/officeDocument/2006/relationships/slide" Target="/ppt/slides/slide4.xml" Id="R39344dad63534d94" /><Relationship Type="http://schemas.openxmlformats.org/officeDocument/2006/relationships/slide" Target="/ppt/slides/slide5.xml" Id="R8ef63b1636534029" /><Relationship Type="http://schemas.openxmlformats.org/officeDocument/2006/relationships/slide" Target="/ppt/slides/slide6.xml" Id="Ra2c622f124004581" /><Relationship Type="http://schemas.openxmlformats.org/officeDocument/2006/relationships/slide" Target="/ppt/slides/slide7.xml" Id="Rd7d54f43e104489b" /><Relationship Type="http://schemas.openxmlformats.org/officeDocument/2006/relationships/slide" Target="/ppt/slides/slide8.xml" Id="R17e1834eb1dc4ea9" /><Relationship Type="http://schemas.openxmlformats.org/officeDocument/2006/relationships/slide" Target="/ppt/slides/slide9.xml" Id="Re8755d06218b408d" /><Relationship Type="http://schemas.openxmlformats.org/officeDocument/2006/relationships/slide" Target="/ppt/slides/slide10.xml" Id="R10b22ad3cd094e02" /><Relationship Type="http://schemas.openxmlformats.org/officeDocument/2006/relationships/slide" Target="/ppt/slides/slide11.xml" Id="Re425a1c8adc04ae6" /><Relationship Type="http://schemas.openxmlformats.org/officeDocument/2006/relationships/slide" Target="/ppt/slides/slide12.xml" Id="R909b9ec8584b4f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5d6b2efe3742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1d9972f0f4454f" /><Relationship Type="http://schemas.openxmlformats.org/officeDocument/2006/relationships/notesMaster" Target="/ppt/notesMasters/notesMaster1.xml" Id="R804a584a4c0443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c3bda3e98d45fc" /><Relationship Type="http://schemas.openxmlformats.org/officeDocument/2006/relationships/notesMaster" Target="/ppt/notesMasters/notesMaster1.xml" Id="Rc5f41d68db3c4e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c4956aace143fa" /><Relationship Type="http://schemas.openxmlformats.org/officeDocument/2006/relationships/notesMaster" Target="/ppt/notesMasters/notesMaster1.xml" Id="Rde753475b47a48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665e6017fa4154" /><Relationship Type="http://schemas.openxmlformats.org/officeDocument/2006/relationships/notesMaster" Target="/ppt/notesMasters/notesMaster1.xml" Id="R6de2e4e87eba45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128b024c5d46d6" /><Relationship Type="http://schemas.openxmlformats.org/officeDocument/2006/relationships/notesMaster" Target="/ppt/notesMasters/notesMaster1.xml" Id="R1029aa2f4e874c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4209c657764303" /><Relationship Type="http://schemas.openxmlformats.org/officeDocument/2006/relationships/notesMaster" Target="/ppt/notesMasters/notesMaster1.xml" Id="R055bfd0f992a48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2fbb1f764c4a03" /><Relationship Type="http://schemas.openxmlformats.org/officeDocument/2006/relationships/notesMaster" Target="/ppt/notesMasters/notesMaster1.xml" Id="Reaeb8af8cecb45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aaf50d903b4c0d" /><Relationship Type="http://schemas.openxmlformats.org/officeDocument/2006/relationships/notesMaster" Target="/ppt/notesMasters/notesMaster1.xml" Id="R58fe4d0ea6ab4b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8c3b717fa643cb" /><Relationship Type="http://schemas.openxmlformats.org/officeDocument/2006/relationships/notesMaster" Target="/ppt/notesMasters/notesMaster1.xml" Id="R626ce2c611ee41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71b5422b604326" /><Relationship Type="http://schemas.openxmlformats.org/officeDocument/2006/relationships/notesMaster" Target="/ppt/notesMasters/notesMaster1.xml" Id="R1428d7e791a94d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d45b8b88b44eea" /><Relationship Type="http://schemas.openxmlformats.org/officeDocument/2006/relationships/notesMaster" Target="/ppt/notesMasters/notesMaster1.xml" Id="R258439097ff541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1d639f1d924737" /><Relationship Type="http://schemas.openxmlformats.org/officeDocument/2006/relationships/notesMaster" Target="/ppt/notesMasters/notesMaster1.xml" Id="R36cd62db826c47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Решение: P2z Earth-New + ZBO. Источники: results/strategy/summary.md; results/stress/summary.md.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results/strategy/summary.md; results/stress/summary.md. PV в млн условных единиц, постоянные цены 2035 г.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results/strategy/summary.md; configs/mcda_profiles.yaml. Баллы 0–100, min-max внутри допущенного множества.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results/stress/summary.md. P2z/P3: неизменные BASE-планы в MANDATORY_STRESS.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results/stress/summary.md. Адаптированный stress-план не переносится механически в 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docs/contract_strategy.md. Все договорные предложения имеют статус TEAM_ASSUMPTION; числа кейса — CASE_INPUT.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docs/stakeholders.md; docs/contract_strategy.md; results/strategy/summary.md.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docs/contract_strategy.md; results/p2z_resilience/comparison.csv. EXP-12.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src/terraplan/web.py; src/terraplan/static/; docs/operator_guide.md.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results/alternatives/P2z_earth_new_zbo_BASE/financial_breakdown.csv; docs/roadmap_budget.md.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docs/HANDOVER.md; docs/operator_guide.md; README.md. Статус публикации уточнить перед защитой.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results/strategy/summary.md; results/stress/summary.md; docs/contract_strategy.md; docs/stakeholders.md.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d6aa882d24f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c9f0be9d66411b" /><Relationship Type="http://schemas.openxmlformats.org/officeDocument/2006/relationships/slideLayout" Target="/ppt/slideLayouts/slideLayout1.xml" Id="R22c64346113e45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c64346113e45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9d986c6fe4320" /><Relationship Type="http://schemas.openxmlformats.org/officeDocument/2006/relationships/notesSlide" Target="/ppt/notesSlides/notesSlide1.xml" Id="R6738a0c1164e47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2e5a058d343b1" /><Relationship Type="http://schemas.openxmlformats.org/officeDocument/2006/relationships/chart" Target="/ppt/slides/charts/chart1.xml" Id="Ra5446a3fe77a4bf0" /><Relationship Type="http://schemas.openxmlformats.org/officeDocument/2006/relationships/notesSlide" Target="/ppt/notesSlides/notesSlide2.xml" Id="Rb230110bfece44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7d1983bcc4a38" /><Relationship Type="http://schemas.openxmlformats.org/officeDocument/2006/relationships/chart" Target="/ppt/slides/charts/chart2.xml" Id="R3ef422771cd649ec" /><Relationship Type="http://schemas.openxmlformats.org/officeDocument/2006/relationships/notesSlide" Target="/ppt/notesSlides/notesSlide3.xml" Id="R0ef2bf3a272448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818365ee94440" /><Relationship Type="http://schemas.openxmlformats.org/officeDocument/2006/relationships/chart" Target="/ppt/slides/charts/chart3.xml" Id="Rc160825b2964459d" /><Relationship Type="http://schemas.openxmlformats.org/officeDocument/2006/relationships/notesSlide" Target="/ppt/notesSlides/notesSlide4.xml" Id="Rfdb43b69c2394e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e5705654a493f" /><Relationship Type="http://schemas.openxmlformats.org/officeDocument/2006/relationships/chart" Target="/ppt/slides/charts/chart4.xml" Id="Ra26c379ecfa143b0" /><Relationship Type="http://schemas.openxmlformats.org/officeDocument/2006/relationships/notesSlide" Target="/ppt/notesSlides/notesSlide5.xml" Id="Ra49dae7e071b4f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b101fa7d34067" /><Relationship Type="http://schemas.openxmlformats.org/officeDocument/2006/relationships/notesSlide" Target="/ppt/notesSlides/notesSlide6.xml" Id="Rcc257610b95c4d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88715396340e1" /><Relationship Type="http://schemas.openxmlformats.org/officeDocument/2006/relationships/notesSlide" Target="/ppt/notesSlides/notesSlide7.xml" Id="R29d86300255a4d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7b4bc5d904e23" /><Relationship Type="http://schemas.openxmlformats.org/officeDocument/2006/relationships/notesSlide" Target="/ppt/notesSlides/notesSlide8.xml" Id="R3657ed83f0a745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6e47a8fa84bce" /><Relationship Type="http://schemas.openxmlformats.org/officeDocument/2006/relationships/notesSlide" Target="/ppt/notesSlides/notesSlide9.xml" Id="R2e02a38d5c174e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e6157673b4973" /><Relationship Type="http://schemas.openxmlformats.org/officeDocument/2006/relationships/chart" Target="/ppt/slides/charts/chart5.xml" Id="R527ec73020294a69" /><Relationship Type="http://schemas.openxmlformats.org/officeDocument/2006/relationships/notesSlide" Target="/ppt/notesSlides/notesSlide10.xml" Id="R18b032a075a243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94a5660734ab7" /><Relationship Type="http://schemas.openxmlformats.org/officeDocument/2006/relationships/notesSlide" Target="/ppt/notesSlides/notesSlide11.xml" Id="R9cf9e497f3eb4b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e8d09f3d94b37" /><Relationship Type="http://schemas.openxmlformats.org/officeDocument/2006/relationships/notesSlide" Target="/ppt/notesSlides/notesSlide12.xml" Id="Rca6914c9365246f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P2z</c:v>
          </c:tx>
          <c:spPr>
            <a:solidFill xmlns:a="http://schemas.openxmlformats.org/drawingml/2006/main">
              <a:srgbClr val="176A5B"/>
            </a:solidFill>
          </c:spPr>
          <c:cat>
            <c:strRef>
              <c:f>'Chart Data'!$A$2:$A$3</c:f>
              <c:strCache>
                <c:ptCount val="2"/>
                <c:pt idx="0">
                  <c:v>PV BASE</c:v>
                </c:pt>
                <c:pt idx="1">
                  <c:v>PV адаптированного stress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8729.404</c:v>
                </c:pt>
                <c:pt idx="1">
                  <c:v>10097.472</c:v>
                </c:pt>
              </c:numCache>
            </c:numRef>
          </c:val>
        </c:ser>
        <c:ser>
          <c:idx val="1"/>
          <c:order val="1"/>
          <c:tx>
            <c:v>P3</c:v>
          </c:tx>
          <c:spPr>
            <a:solidFill xmlns:a="http://schemas.openxmlformats.org/drawingml/2006/main">
              <a:srgbClr val="838B8C"/>
            </a:solidFill>
          </c:spPr>
          <c:cat>
            <c:strRef>
              <c:f>'Chart Data'!$C$2:$C$3</c:f>
              <c:strCache>
                <c:ptCount val="2"/>
                <c:pt idx="0">
                  <c:v>PV BASE</c:v>
                </c:pt>
                <c:pt idx="1">
                  <c:v>PV адаптированного stress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8638.857</c:v>
                </c:pt>
                <c:pt idx="1">
                  <c:v>10636.655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P2z</c:v>
          </c:tx>
          <c:spPr>
            <a:solidFill xmlns:a="http://schemas.openxmlformats.org/drawingml/2006/main">
              <a:srgbClr val="176A5B"/>
            </a:solidFill>
          </c:spPr>
          <c:cat>
            <c:strRef>
              <c:f>'Chart Data'!$A$2:$A$5</c:f>
              <c:strCache>
                <c:ptCount val="4"/>
                <c:pt idx="0">
                  <c:v>Balanced</c:v>
                </c:pt>
                <c:pt idx="1">
                  <c:v>Operator</c:v>
                </c:pt>
                <c:pt idx="2">
                  <c:v>Consumers</c:v>
                </c:pt>
                <c:pt idx="3">
                  <c:v>Financier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74.6</c:v>
                </c:pt>
                <c:pt idx="1">
                  <c:v>72.5</c:v>
                </c:pt>
                <c:pt idx="2">
                  <c:v>64.5</c:v>
                </c:pt>
                <c:pt idx="3">
                  <c:v>77.1</c:v>
                </c:pt>
              </c:numCache>
            </c:numRef>
          </c:val>
        </c:ser>
        <c:ser>
          <c:idx val="1"/>
          <c:order val="1"/>
          <c:tx>
            <c:v>P3</c:v>
          </c:tx>
          <c:spPr>
            <a:solidFill xmlns:a="http://schemas.openxmlformats.org/drawingml/2006/main">
              <a:srgbClr val="838B8C"/>
            </a:solidFill>
          </c:spPr>
          <c:cat>
            <c:strRef>
              <c:f>'Chart Data'!$C$2:$C$5</c:f>
              <c:strCache>
                <c:ptCount val="4"/>
                <c:pt idx="0">
                  <c:v>Balanced</c:v>
                </c:pt>
                <c:pt idx="1">
                  <c:v>Operator</c:v>
                </c:pt>
                <c:pt idx="2">
                  <c:v>Consumers</c:v>
                </c:pt>
                <c:pt idx="3">
                  <c:v>Financier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30.8</c:v>
                </c:pt>
                <c:pt idx="1">
                  <c:v>34.3</c:v>
                </c:pt>
                <c:pt idx="2">
                  <c:v>21.4</c:v>
                </c:pt>
                <c:pt idx="3">
                  <c:v>41.5</c:v>
                </c:pt>
              </c:numCache>
            </c:numRef>
          </c:val>
        </c:ser>
        <c:ser>
          <c:idx val="2"/>
          <c:order val="2"/>
          <c:tx>
            <c:v>P4</c:v>
          </c:tx>
          <c:spPr>
            <a:solidFill xmlns:a="http://schemas.openxmlformats.org/drawingml/2006/main">
              <a:srgbClr val="D5A747"/>
            </a:solidFill>
          </c:spPr>
          <c:cat>
            <c:strRef>
              <c:f>'Chart Data'!$E$2:$E$5</c:f>
              <c:strCache>
                <c:ptCount val="4"/>
                <c:pt idx="0">
                  <c:v>Balanced</c:v>
                </c:pt>
                <c:pt idx="1">
                  <c:v>Operator</c:v>
                </c:pt>
                <c:pt idx="2">
                  <c:v>Consumers</c:v>
                </c:pt>
                <c:pt idx="3">
                  <c:v>Financier</c:v>
                </c:pt>
              </c:strCache>
            </c:strRef>
          </c:cat>
          <c:val>
            <c:numRef>
              <c:f>'Chart Data'!$F$2:$F$5</c:f>
              <c:numCache>
                <c:formatCode>General</c:formatCode>
                <c:ptCount val="4"/>
                <c:pt idx="0">
                  <c:v>18.3</c:v>
                </c:pt>
                <c:pt idx="1">
                  <c:v>18.8</c:v>
                </c:pt>
                <c:pt idx="2">
                  <c:v>29.4</c:v>
                </c:pt>
                <c:pt idx="3">
                  <c:v>12.2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Дефицит, т</c:v>
          </c:tx>
          <c:spPr>
            <a:solidFill xmlns:a="http://schemas.openxmlformats.org/drawingml/2006/main">
              <a:srgbClr val="B64942"/>
            </a:solidFill>
          </c:spPr>
          <c:cat>
            <c:strRef>
              <c:f>'Chart Data'!$A$2:$A$3</c:f>
              <c:strCache>
                <c:ptCount val="2"/>
                <c:pt idx="0">
                  <c:v>P2z</c:v>
                </c:pt>
                <c:pt idx="1">
                  <c:v>P3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95.917</c:v>
                </c:pt>
                <c:pt idx="1">
                  <c:v>170.017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PV, млн</c:v>
          </c:tx>
          <c:spPr>
            <a:solidFill xmlns:a="http://schemas.openxmlformats.org/drawingml/2006/main">
              <a:srgbClr val="176A5B"/>
            </a:solidFill>
          </c:spPr>
          <c:cat>
            <c:strRef>
              <c:f>'Chart Data'!$A$2:$A$4</c:f>
              <c:strCache>
                <c:ptCount val="3"/>
                <c:pt idx="0">
                  <c:v>BASE</c:v>
                </c:pt>
                <c:pt idx="1">
                  <c:v>Fixed stress</c:v>
                </c:pt>
                <c:pt idx="2">
                  <c:v>Adapted stress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8729.404</c:v>
                </c:pt>
                <c:pt idx="1">
                  <c:v>9142.898</c:v>
                </c:pt>
                <c:pt idx="2">
                  <c:v>10097.472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Всего, млн</c:v>
          </c:tx>
          <c:spPr>
            <a:solidFill xmlns:a="http://schemas.openxmlformats.org/drawingml/2006/main">
              <a:srgbClr val="176A5B"/>
            </a:solidFill>
          </c:spPr>
          <c:cat>
            <c:numRef>
              <c:f>'Chart Data'!$A$2:$A$7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1218</c:v>
                </c:pt>
                <c:pt idx="1">
                  <c:v>1032</c:v>
                </c:pt>
                <c:pt idx="2">
                  <c:v>1566</c:v>
                </c:pt>
                <c:pt idx="3">
                  <c:v>1832</c:v>
                </c:pt>
                <c:pt idx="4">
                  <c:v>2383</c:v>
                </c:pt>
                <c:pt idx="5">
                  <c:v>2948</c:v>
                </c:pt>
              </c:numCache>
            </c:numRef>
          </c:val>
        </c:ser>
        <c:ser>
          <c:idx val="1"/>
          <c:order val="1"/>
          <c:tx>
            <c:v>CAPEX, млн</c:v>
          </c:tx>
          <c:spPr>
            <a:solidFill xmlns:a="http://schemas.openxmlformats.org/drawingml/2006/main">
              <a:srgbClr val="D5A747"/>
            </a:solidFill>
          </c:spPr>
          <c:cat>
            <c:numRef>
              <c:f>'Chart Data'!$C$2:$C$7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360</c:v>
                </c:pt>
                <c:pt idx="1">
                  <c:v>0</c:v>
                </c:pt>
                <c:pt idx="2">
                  <c:v>180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F0A23-8C2A-4A9F-A4BA-C002936B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23950"/>
            <a:ext cx="885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TerraPlan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89BD5-0320-4653-8A2E-4CFB13D3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D9EBE8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D9EBE8"/>
                </a:solidFill>
                <a:latin typeface="Arial"/>
                <a:ea typeface="Arial"/>
                <a:cs typeface="Arial"/>
              </a:rPr>
              <a:t>Выбор защиты: P2z Earth-New + ZBO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0F1EE-64B5-4F58-B0C4-540287E1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9EBE8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D9EBE8"/>
                </a:solidFill>
                <a:latin typeface="Arial"/>
                <a:ea typeface="Arial"/>
                <a:cs typeface="Arial"/>
              </a:rPr>
              <a:t>Пересматриваемый сценарий-зависимый график заказов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A58D4-8079-4338-A2CB-A538FB00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3D8D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C3D8D5"/>
                </a:solidFill>
                <a:latin typeface="Arial"/>
                <a:ea typeface="Arial"/>
                <a:cs typeface="Arial"/>
              </a:rPr>
              <a:t>CosmoHackathon 2026 · Кейс 2 · 2035–2040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9CE66-C1A2-4EB0-B9E7-B02B7D02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3D8D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C3D8D5"/>
                </a:solidFill>
                <a:latin typeface="Arial"/>
                <a:ea typeface="Arial"/>
                <a:cs typeface="Arial"/>
              </a:rPr>
              <a:t>1 / 12</a:t>
            </a:r>
          </a:p>
        </p:txBody>
      </p:sp>
    </p:spTree>
    <p:extLst>
      <p:ext uri="{BB962C8B-B14F-4D97-AF65-F5344CB8AC3E}">
        <p14:creationId xmlns:p14="http://schemas.microsoft.com/office/powerpoint/2010/main" val="11683174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D79D2-5497-4825-8009-7EC72FDF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Почему P2z, если P3 дешевле в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4B284-4B2C-4AA2-A63E-2AE9C273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747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7477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1485900"/>
          <a:ext xmlns:a="http://schemas.openxmlformats.org/drawingml/2006/main" cx="70294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446a3fe77a4bf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343A4-EA59-477F-955B-B9737764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P3: −90,547</a:t>
            </a:r>
          </a:p>
          <a:p xmlns:a="http://schemas.openxmlformats.org/drawingml/2006/main">
            <a:pPr>
              <a:defRPr sz="232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млн PV в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CEDC9-4CCA-48E3-B186-6772B25F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67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A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A5B"/>
                </a:solidFill>
                <a:latin typeface="Arial"/>
                <a:ea typeface="Arial"/>
                <a:cs typeface="Arial"/>
              </a:rPr>
              <a:t>P2z: −539,183</a:t>
            </a:r>
          </a:p>
          <a:p xmlns:a="http://schemas.openxmlformats.org/drawingml/2006/main">
            <a:pPr>
              <a:defRPr sz="2175" b="1">
                <a:solidFill>
                  <a:srgbClr val="176A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A5B"/>
                </a:solidFill>
                <a:latin typeface="Arial"/>
                <a:ea typeface="Arial"/>
                <a:cs typeface="Arial"/>
              </a:rPr>
              <a:t>млн PV в adapted stress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AE3C4-2FCE-42E4-8556-7FA061DC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F43"/>
                </a:solidFill>
                <a:latin typeface="Arial"/>
                <a:ea typeface="Arial"/>
                <a:cs typeface="Arial"/>
              </a:rPr>
              <a:t>CAPEX</a:t>
            </a:r>
          </a:p>
          <a:p xmlns:a="http://schemas.openxmlformats.org/drawingml/2006/main">
            <a:pPr>
              <a:defRPr sz="1725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F43"/>
                </a:solidFill>
                <a:latin typeface="Arial"/>
                <a:ea typeface="Arial"/>
                <a:cs typeface="Arial"/>
              </a:rPr>
              <a:t>P2z 540 · P3 1 430</a:t>
            </a:r>
          </a:p>
          <a:p xmlns:a="http://schemas.openxmlformats.org/drawingml/2006/main">
            <a:pPr>
              <a:defRPr sz="1725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F43"/>
                </a:solidFill>
                <a:latin typeface="Arial"/>
                <a:ea typeface="Arial"/>
                <a:cs typeface="Arial"/>
              </a:rPr>
              <a:t>P2z связывает на 890 меньше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6CEB3-61BF-4091-8112-A7150E44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7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3F43"/>
                </a:solidFill>
                <a:latin typeface="Arial"/>
                <a:ea typeface="Arial"/>
                <a:cs typeface="Arial"/>
              </a:rPr>
              <a:t>P3 дешевле только в BASE. При защите от обязательного стресса и лимите капитала P2z рациональнее.</a:t>
            </a:r>
          </a:p>
        </p:txBody>
      </p:sp>
    </p:spTree>
    <p:extLst>
      <p:ext uri="{BB962C8B-B14F-4D97-AF65-F5344CB8AC3E}">
        <p14:creationId xmlns:p14="http://schemas.microsoft.com/office/powerpoint/2010/main" val="1727583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B044C-FFBA-44C8-A6DD-E35A698C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MCDA после фильтра допуска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B2F1D-9C81-4CFE-BBF5-F8F17C5D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747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7477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23900" y="1504950"/>
          <a:ext xmlns:a="http://schemas.openxmlformats.org/drawingml/2006/main" cx="7810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f422771cd649e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90836-5661-4C00-AE28-FA26AF24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573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Фильтр до весов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34805-5326-4D3D-94A3-6D49C18D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90750"/>
            <a:ext cx="2571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17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3F43"/>
                </a:solidFill>
                <a:latin typeface="Arial"/>
                <a:ea typeface="Arial"/>
                <a:cs typeface="Arial"/>
              </a:rPr>
              <a:t>BASE проходит hard-ограничения.</a:t>
            </a:r>
          </a:p>
          <a:p xmlns:a="http://schemas.openxmlformats.org/drawingml/2006/main">
            <a:pPr>
              <a:defRPr sz="150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3F43"/>
                </a:solidFill>
                <a:latin typeface="Arial"/>
                <a:ea typeface="Arial"/>
                <a:cs typeface="Arial"/>
              </a:rPr>
              <a:t>Адаптированный MANDATORY_STRESS проходит без hard-нарушений.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3F43"/>
                </a:solidFill>
                <a:latin typeface="Arial"/>
                <a:ea typeface="Arial"/>
                <a:cs typeface="Arial"/>
              </a:rPr>
              <a:t>R2 требует 100% общего и критического сервиса как отдельное правило выбора.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9874A-BB8E-4C90-A897-4ACBE3C1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007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7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3F43"/>
                </a:solidFill>
                <a:latin typeface="Arial"/>
                <a:ea typeface="Arial"/>
                <a:cs typeface="Arial"/>
              </a:rPr>
              <a:t>97% / 99% в stress — guideline. 45-дневный резерв — hard. Балл MCDA не компенсирует отказ по фильтру.</a:t>
            </a:r>
          </a:p>
        </p:txBody>
      </p:sp>
    </p:spTree>
    <p:extLst>
      <p:ext uri="{BB962C8B-B14F-4D97-AF65-F5344CB8AC3E}">
        <p14:creationId xmlns:p14="http://schemas.microsoft.com/office/powerpoint/2010/main" val="20837971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9DD55-3342-47FF-B74B-5FCFDC9D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Fixed stress: риск виден до адаптации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929B2-DF3D-42E2-BC86-BC8380DE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747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7477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81050" y="1619250"/>
          <a:ext xmlns:a="http://schemas.openxmlformats.org/drawingml/2006/main" cx="5429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60825b2964459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1ECF0-BBA8-4AA9-ABD0-CFF4B01C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6212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6494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64942"/>
                </a:solidFill>
                <a:latin typeface="Arial"/>
                <a:ea typeface="Arial"/>
                <a:cs typeface="Arial"/>
              </a:rPr>
              <a:t>P2z без пересмотра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CB488-56CF-4FEB-A99F-14847946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3524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3F43"/>
                </a:solidFill>
                <a:latin typeface="Arial"/>
                <a:ea typeface="Arial"/>
                <a:cs typeface="Arial"/>
              </a:rPr>
              <a:t>95,917 т дефицита</a:t>
            </a:r>
          </a:p>
          <a:p xmlns:a="http://schemas.openxmlformats.org/drawingml/2006/main">
            <a:pPr>
              <a:defRPr sz="2175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3F43"/>
                </a:solidFill>
                <a:latin typeface="Arial"/>
                <a:ea typeface="Arial"/>
                <a:cs typeface="Arial"/>
              </a:rPr>
              <a:t>3 hard-нарушения</a:t>
            </a:r>
          </a:p>
          <a:p xmlns:a="http://schemas.openxmlformats.org/drawingml/2006/main">
            <a:pPr>
              <a:defRPr sz="2175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3F43"/>
                </a:solidFill>
                <a:latin typeface="Arial"/>
                <a:ea typeface="Arial"/>
                <a:cs typeface="Arial"/>
              </a:rPr>
              <a:t>Резерв нарушен в 2038–2040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ECC45-B0C1-4B4E-9B35-D8EB5459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16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3F43"/>
                </a:solidFill>
                <a:latin typeface="Arial"/>
                <a:ea typeface="Arial"/>
                <a:cs typeface="Arial"/>
              </a:rPr>
              <a:t>Вывод: новый прогноз требует пересчёта сразу. Старого порога «реагировать только после +5% спроса» нет.</a:t>
            </a:r>
          </a:p>
        </p:txBody>
      </p:sp>
    </p:spTree>
    <p:extLst>
      <p:ext uri="{BB962C8B-B14F-4D97-AF65-F5344CB8AC3E}">
        <p14:creationId xmlns:p14="http://schemas.microsoft.com/office/powerpoint/2010/main" val="450373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C0BCF-AF77-4A5C-BBCF-5120AF0E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Адаптированный P2z защищает сервис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9801F-6D10-4D54-A0A0-90DEDE25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747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7477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23900" y="1562100"/>
          <a:ext xmlns:a="http://schemas.openxmlformats.org/drawingml/2006/main" cx="68580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6c379ecfa143b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B3D9A-4E50-4DE1-BC51-88C34007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62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A5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A5B"/>
                </a:solidFill>
                <a:latin typeface="Arial"/>
                <a:ea typeface="Arial"/>
                <a:cs typeface="Arial"/>
              </a:rPr>
              <a:t>Adapted stress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983B8-14C2-4240-82BB-79E7B58B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52675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F43"/>
                </a:solidFill>
                <a:latin typeface="Arial"/>
                <a:ea typeface="Arial"/>
                <a:cs typeface="Arial"/>
              </a:rPr>
              <a:t>Дефицит: 0 т</a:t>
            </a:r>
          </a:p>
          <a:p xmlns:a="http://schemas.openxmlformats.org/drawingml/2006/main">
            <a:pPr>
              <a:defRPr sz="180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F43"/>
                </a:solidFill>
                <a:latin typeface="Arial"/>
                <a:ea typeface="Arial"/>
                <a:cs typeface="Arial"/>
              </a:rPr>
              <a:t>Hard-нарушения: 0</a:t>
            </a:r>
          </a:p>
          <a:p xmlns:a="http://schemas.openxmlformats.org/drawingml/2006/main">
            <a:pPr>
              <a:defRPr sz="180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F43"/>
                </a:solidFill>
                <a:latin typeface="Arial"/>
                <a:ea typeface="Arial"/>
                <a:cs typeface="Arial"/>
              </a:rPr>
              <a:t>Общий и критический сервис: 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D69E9-D23C-4168-8478-9BA3C041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857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3F43"/>
                </a:solidFill>
                <a:latin typeface="Arial"/>
                <a:ea typeface="Arial"/>
                <a:cs typeface="Arial"/>
              </a:rPr>
              <a:t>Это отдельный график для stress. Если перенести его в BASE, появляются 17 нарушений переполнения хранилища.</a:t>
            </a:r>
          </a:p>
        </p:txBody>
      </p:sp>
    </p:spTree>
    <p:extLst>
      <p:ext uri="{BB962C8B-B14F-4D97-AF65-F5344CB8AC3E}">
        <p14:creationId xmlns:p14="http://schemas.microsoft.com/office/powerpoint/2010/main" val="14265621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85415-0525-4493-BB87-51C9645E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Контрактная стратегия P2z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D2C5F-30F0-4CD2-814B-BB2671DC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747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7477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30556-1E00-405F-8066-12B84C97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A5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A5B"/>
                </a:solidFill>
                <a:latin typeface="Arial"/>
                <a:ea typeface="Arial"/>
                <a:cs typeface="Arial"/>
              </a:rPr>
              <a:t>CASE_INPUT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A5AE9-3E60-4A0D-BD29-C4A1FFC2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F43"/>
                </a:solidFill>
                <a:latin typeface="Arial"/>
                <a:ea typeface="Arial"/>
                <a:cs typeface="Arial"/>
              </a:rPr>
              <a:t>TOP, сроки, мощности, CAPEX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0560C-57B9-4F07-8362-8615E3CF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383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5A74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5A747"/>
                </a:solidFill>
                <a:latin typeface="Arial"/>
                <a:ea typeface="Arial"/>
                <a:cs typeface="Arial"/>
              </a:rPr>
              <a:t>TEAM_ASSUMPTION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5CC07-4B08-4E28-B6B9-B916696A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F43"/>
                </a:solidFill>
                <a:latin typeface="Arial"/>
                <a:ea typeface="Arial"/>
                <a:cs typeface="Arial"/>
              </a:rPr>
              <a:t>cap/collar, remedies, лимиты ответственности, приёмка, страхование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1B22B-177D-426B-9E30-440F5B72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Рост спроса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51BD8-D136-473B-AA0F-70C09FD8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3F43"/>
                </a:solidFill>
                <a:latin typeface="Arial"/>
                <a:ea typeface="Arial"/>
                <a:cs typeface="Arial"/>
              </a:rPr>
              <a:t>B за 4 месяца; E за 6 недель. Физический запас покрывает ожидание.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4CF1C-8A82-4179-9FFD-2899F1B4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813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Задержка Earth-New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259FC-120B-4116-B731-95E213FB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3F43"/>
                </a:solidFill>
                <a:latin typeface="Arial"/>
                <a:ea typeface="Arial"/>
                <a:cs typeface="Arial"/>
              </a:rPr>
              <a:t>Milestone и независимая приёмка. Поставщик несёт вменяемую задержку до лимита; оператор и финансист сохраняют остаток.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CF6CC-F973-4E7A-9ABB-3130E8B4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3F43"/>
                </a:solidFill>
                <a:latin typeface="Arial"/>
                <a:ea typeface="Arial"/>
                <a:cs typeface="Arial"/>
              </a:rPr>
              <a:t>Контракт распределяет риск, но не делает его бесплатным и не заменяет 45-дневный резерв.</a:t>
            </a:r>
          </a:p>
        </p:txBody>
      </p:sp>
    </p:spTree>
    <p:extLst>
      <p:ext uri="{BB962C8B-B14F-4D97-AF65-F5344CB8AC3E}">
        <p14:creationId xmlns:p14="http://schemas.microsoft.com/office/powerpoint/2010/main" val="2184393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DF8EC-2D05-4849-AE43-4D3B75B9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Стейкхолдеры и адаптация риска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86125-2F5B-41FD-811B-D8D0A91F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747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7477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02A30-4F18-46EB-843A-E7B71174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A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6A5B"/>
                </a:solidFill>
                <a:latin typeface="Arial"/>
                <a:ea typeface="Arial"/>
                <a:cs typeface="Arial"/>
              </a:rPr>
              <a:t>Оператор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C1712-EA83-4B52-926C-8AA9C176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3F43"/>
                </a:solidFill>
                <a:latin typeface="Arial"/>
                <a:ea typeface="Arial"/>
                <a:cs typeface="Arial"/>
              </a:rPr>
              <a:t>CAPEX 540 млн</a:t>
            </a:r>
          </a:p>
          <a:p xmlns:a="http://schemas.openxmlformats.org/drawingml/2006/main">
            <a:pPr>
              <a:defRPr sz="165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3F43"/>
                </a:solidFill>
                <a:latin typeface="Arial"/>
                <a:ea typeface="Arial"/>
                <a:cs typeface="Arial"/>
              </a:rPr>
              <a:t>Экономия 539,183 млн PV против adapted P3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F743D-98ED-4CE3-90E4-3437F584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68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A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6A5B"/>
                </a:solidFill>
                <a:latin typeface="Arial"/>
                <a:ea typeface="Arial"/>
                <a:cs typeface="Arial"/>
              </a:rPr>
              <a:t>Критические потребители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EC5BC-52D3-4BDA-90AC-49D83D44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79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3F43"/>
                </a:solidFill>
                <a:latin typeface="Arial"/>
                <a:ea typeface="Arial"/>
                <a:cs typeface="Arial"/>
              </a:rPr>
              <a:t>100% сервис в выбранных BASE и adapted stress планах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F4637-A148-4C42-908A-3FC69BB6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A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6A5B"/>
                </a:solidFill>
                <a:latin typeface="Arial"/>
                <a:ea typeface="Arial"/>
                <a:cs typeface="Arial"/>
              </a:rPr>
              <a:t>Финансист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44FE1-C167-4745-9E7E-D570FD99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8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3F43"/>
                </a:solidFill>
                <a:latin typeface="Arial"/>
                <a:ea typeface="Arial"/>
                <a:cs typeface="Arial"/>
              </a:rPr>
              <a:t>1 260 млн запаса</a:t>
            </a:r>
          </a:p>
          <a:p xmlns:a="http://schemas.openxmlformats.org/drawingml/2006/main">
            <a:pPr>
              <a:defRPr sz="165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3F43"/>
                </a:solidFill>
                <a:latin typeface="Arial"/>
                <a:ea typeface="Arial"/>
                <a:cs typeface="Arial"/>
              </a:rPr>
              <a:t>до CAPEX-лимита 2037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AA55A-B680-4A59-AA2C-9F543FB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334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83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3F43"/>
                </a:solidFill>
                <a:latin typeface="Arial"/>
                <a:ea typeface="Arial"/>
                <a:cs typeface="Arial"/>
              </a:rPr>
              <a:t>При изменении риска меняются график заказов и владелец затрат. Ограничения пересчитываются раздельно, средний сервис не маскирует нарушение.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FDE6F-3F81-4EA3-9974-F6EB1636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007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79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3F43"/>
                </a:solidFill>
                <a:latin typeface="Arial"/>
                <a:ea typeface="Arial"/>
                <a:cs typeface="Arial"/>
              </a:rPr>
              <a:t>Сценарий-зависимые планы не складываются: выбран один пересчитанный график для текущего прогноза.</a:t>
            </a:r>
          </a:p>
        </p:txBody>
      </p:sp>
    </p:spTree>
    <p:extLst>
      <p:ext uri="{BB962C8B-B14F-4D97-AF65-F5344CB8AC3E}">
        <p14:creationId xmlns:p14="http://schemas.microsoft.com/office/powerpoint/2010/main" val="3740159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C4902-E1EA-4C99-B98D-AA35E162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Earth-New: ворота защиты до срыва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C5282-4318-463B-A243-C99A0D73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747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7477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4D030-6BCC-415C-9884-48E7B6B0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A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6A5B"/>
                </a:solidFill>
                <a:latin typeface="Arial"/>
                <a:ea typeface="Arial"/>
                <a:cs typeface="Arial"/>
              </a:rPr>
              <a:t>2035-01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31B2A-D4D0-46B6-A71D-9717675D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74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F43"/>
                </a:solidFill>
                <a:latin typeface="Arial"/>
                <a:ea typeface="Arial"/>
                <a:cs typeface="Arial"/>
              </a:rPr>
              <a:t>Опцион и реализация C. Фиксируем milestones, приёмку и календарь номинации.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2FB17-ECF7-434F-AE75-C8F4F7C6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38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A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6A5B"/>
                </a:solidFill>
                <a:latin typeface="Arial"/>
                <a:ea typeface="Arial"/>
                <a:cs typeface="Arial"/>
              </a:rPr>
              <a:t>2037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57D88-0048-4BE7-8EBD-93A5FAFB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F43"/>
                </a:solidFill>
                <a:latin typeface="Arial"/>
                <a:ea typeface="Arial"/>
                <a:cs typeface="Arial"/>
              </a:rPr>
              <a:t>EXP-12: ранний календарь C апрель–декабрь. +0,285425 млн PV в BASE.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3715B-3A47-47A8-9903-24542DE0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383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49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64942"/>
                </a:solidFill>
                <a:latin typeface="Arial"/>
                <a:ea typeface="Arial"/>
                <a:cs typeface="Arial"/>
              </a:rPr>
              <a:t>+3 месяца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DB313-3B33-4613-B622-51EEEB3C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1455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3F43"/>
                </a:solidFill>
                <a:latin typeface="Arial"/>
                <a:ea typeface="Arial"/>
                <a:cs typeface="Arial"/>
              </a:rPr>
              <a:t>Защищённый календарь проходит. Доплата к незащищённому плану на том же фоне: +6,712365 млн PV.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406D2-C665-49BA-AB88-33C5B1E4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10144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21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3F43"/>
                </a:solidFill>
                <a:latin typeface="Arial"/>
                <a:ea typeface="Arial"/>
                <a:cs typeface="Arial"/>
              </a:rPr>
              <a:t>+6 / +12 месяцев: эта мера недостаточна. Поэтому остаточный риск, буфер и замещающие заказы остаются в решении.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4B501-AB66-4233-A033-8CF0CAA9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3F43"/>
                </a:solidFill>
                <a:latin typeface="Arial"/>
                <a:ea typeface="Arial"/>
                <a:cs typeface="Arial"/>
              </a:rPr>
              <a:t>Проверенная цена относится к графику и резервированию, а не к гарантии поставщика.</a:t>
            </a:r>
          </a:p>
        </p:txBody>
      </p:sp>
    </p:spTree>
    <p:extLst>
      <p:ext uri="{BB962C8B-B14F-4D97-AF65-F5344CB8AC3E}">
        <p14:creationId xmlns:p14="http://schemas.microsoft.com/office/powerpoint/2010/main" val="20563030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6865A-91B2-4826-B4B4-A64C0252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Рабочий интерфейс оператора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938FA-39CA-4253-A4A0-8F8C4D7A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747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7477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D695B-EF0E-4033-AFD4-37B9546F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033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55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3F43"/>
                </a:solidFill>
                <a:latin typeface="Arial"/>
                <a:ea typeface="Arial"/>
                <a:cs typeface="Arial"/>
              </a:rPr>
              <a:t>Оператор меняет заказы, резерв, инвестиции и начальный запас. Единый Python-движок считает BASE и обязательный stress.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2F899-941B-426D-8BBE-D9F8AE17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95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A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6A5B"/>
                </a:solidFill>
                <a:latin typeface="Arial"/>
                <a:ea typeface="Arial"/>
                <a:cs typeface="Arial"/>
              </a:rPr>
              <a:t>На экране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4BC57-F858-4371-973D-36CF849D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857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3F43"/>
                </a:solidFill>
                <a:latin typeface="Arial"/>
                <a:ea typeface="Arial"/>
                <a:cs typeface="Arial"/>
              </a:rPr>
              <a:t>Год, факт, лимит и причина нарушения. Сравнение двух расчётов показывает изменение решений и расходов.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04625-4B6C-4B4F-A971-0CDB33D6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F43"/>
                </a:solidFill>
                <a:latin typeface="Arial"/>
                <a:ea typeface="Arial"/>
                <a:cs typeface="Arial"/>
              </a:rPr>
              <a:t>В демо: выбрать P2z, показать BASE, затем fixed stress, затем adapted stress. Не называть результат stress одинаковым с BASE-планом.</a:t>
            </a:r>
          </a:p>
        </p:txBody>
      </p:sp>
    </p:spTree>
    <p:extLst>
      <p:ext uri="{BB962C8B-B14F-4D97-AF65-F5344CB8AC3E}">
        <p14:creationId xmlns:p14="http://schemas.microsoft.com/office/powerpoint/2010/main" val="18446625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7F617-D0BA-4487-8142-16A6541F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Бюджет P2z по годам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48540-3A18-461F-9E5C-ED41C3BB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747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7477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723900" y="1571625"/>
          <a:ext xmlns:a="http://schemas.openxmlformats.org/drawingml/2006/main" cx="9858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7ec73020294a6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B90CA-E1F4-4BCA-9DCF-9BCA1703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00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3F43"/>
                </a:solidFill>
                <a:latin typeface="Arial"/>
                <a:ea typeface="Arial"/>
                <a:cs typeface="Arial"/>
              </a:rPr>
              <a:t>Earth-New: 360 млн в 2035. ZBO: 180 млн в 2037. CAPEX P2z до 2037: 540 млн.</a:t>
            </a:r>
          </a:p>
        </p:txBody>
      </p:sp>
    </p:spTree>
    <p:extLst>
      <p:ext uri="{BB962C8B-B14F-4D97-AF65-F5344CB8AC3E}">
        <p14:creationId xmlns:p14="http://schemas.microsoft.com/office/powerpoint/2010/main" val="19677224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F159D-7C39-4BF3-BC20-FA0003CA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Доказательства и воспроизведение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0C17A-6AB9-4530-9FA9-6BD93F35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747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7477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F3E31-E8E6-4A75-B1D4-39958926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A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6A5B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68839-DF39-49B5-8C27-AE756893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F43"/>
                </a:solidFill>
                <a:latin typeface="Arial"/>
                <a:ea typeface="Arial"/>
                <a:cs typeface="Arial"/>
              </a:rPr>
              <a:t>results/strategy/summary.md</a:t>
            </a:r>
          </a:p>
          <a:p xmlns:a="http://schemas.openxmlformats.org/drawingml/2006/main">
            <a:pPr>
              <a:defRPr sz="1725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F43"/>
                </a:solidFill>
                <a:latin typeface="Arial"/>
                <a:ea typeface="Arial"/>
                <a:cs typeface="Arial"/>
              </a:rPr>
              <a:t>results/stress/summary.md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327E8-BB3C-4CCF-89E9-00702798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A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6A5B"/>
                </a:solidFill>
                <a:latin typeface="Arial"/>
                <a:ea typeface="Arial"/>
                <a:cs typeface="Arial"/>
              </a:rPr>
              <a:t>Контракт и стейкхолдеры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19FB3-1FEA-451A-8846-A959A398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F43"/>
                </a:solidFill>
                <a:latin typeface="Arial"/>
                <a:ea typeface="Arial"/>
                <a:cs typeface="Arial"/>
              </a:rPr>
              <a:t>docs/contract_strategy.md</a:t>
            </a:r>
          </a:p>
          <a:p xmlns:a="http://schemas.openxmlformats.org/drawingml/2006/main">
            <a:pPr>
              <a:defRPr sz="1725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F43"/>
                </a:solidFill>
                <a:latin typeface="Arial"/>
                <a:ea typeface="Arial"/>
                <a:cs typeface="Arial"/>
              </a:rPr>
              <a:t>docs/stakeholders.md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5D3E6-721B-4C68-81F0-99270ABD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668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A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6A5B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E8FDA-FB25-4323-9039-FE095B48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43125"/>
            <a:ext cx="266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3F43"/>
                </a:solidFill>
                <a:latin typeface="Arial"/>
                <a:ea typeface="Arial"/>
                <a:cs typeface="Arial"/>
              </a:rPr>
              <a:t>BASE, stress, adaptation, save/export,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2630A-4884-47F6-9E2B-4E884E35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334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694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3F43"/>
                </a:solidFill>
                <a:latin typeface="Arial"/>
                <a:ea typeface="Arial"/>
                <a:cs typeface="Arial"/>
              </a:rPr>
              <a:t>Демоверсия показывает управляющее решение, а результаты и входные данные остаются в репозитории. Перед публикацией обновить статус GitVerse на финальном слайде.</a:t>
            </a:r>
          </a:p>
        </p:txBody>
      </p:sp>
    </p:spTree>
    <p:extLst>
      <p:ext uri="{BB962C8B-B14F-4D97-AF65-F5344CB8AC3E}">
        <p14:creationId xmlns:p14="http://schemas.microsoft.com/office/powerpoint/2010/main" val="6831573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0E013-77C0-431B-8678-1F6455B2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F43"/>
                </a:solidFill>
                <a:latin typeface="Arial"/>
                <a:ea typeface="Arial"/>
                <a:cs typeface="Arial"/>
              </a:rPr>
              <a:t>Итоговое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F0FBB-3F01-4924-AAD5-DAB2EB1F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747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7477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6126F-E568-4B9A-8DFC-21B94A64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985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6A5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6A5B"/>
                </a:solidFill>
                <a:latin typeface="Arial"/>
                <a:ea typeface="Arial"/>
                <a:cs typeface="Arial"/>
              </a:rPr>
              <a:t>P2z Earth-New + ZBO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F0EE0-34E2-4AA8-AA9C-E10B08E1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02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3F43"/>
                </a:solidFill>
                <a:latin typeface="Arial"/>
                <a:ea typeface="Arial"/>
                <a:cs typeface="Arial"/>
              </a:rPr>
              <a:t>P3 дешевле в BASE на 90,547 млн PV. P2z дешевле в adapted stress на 539,183 млн PV и требует на 890 млн меньше CAPEX.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690CA-9A5A-4AE9-80CB-F19BAF95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10334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641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3F4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3F43"/>
                </a:solidFill>
                <a:latin typeface="Arial"/>
                <a:ea typeface="Arial"/>
                <a:cs typeface="Arial"/>
              </a:rPr>
              <a:t>Защита работает только с пересчитываемым сценарием графиком. Контрактные меры обозначены как TEAM_ASSUMPTION; hard-ограничения и риск остаются видимыми.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BAA2D-DD84-4E3A-BED5-38995D3F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A5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A5B"/>
                </a:solidFill>
                <a:latin typeface="Arial"/>
                <a:ea typeface="Arial"/>
                <a:cs typeface="Arial"/>
              </a:rPr>
              <a:t>Вопросы</a:t>
            </a:r>
          </a:p>
        </p:txBody>
      </p:sp>
    </p:spTree>
    <p:extLst>
      <p:ext uri="{BB962C8B-B14F-4D97-AF65-F5344CB8AC3E}">
        <p14:creationId xmlns:p14="http://schemas.microsoft.com/office/powerpoint/2010/main" val="20747812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2026-09-19T16:01:17.2050000Z</dcterms:created>
  <dcterms:modified xsi:type="dcterms:W3CDTF">2026-09-19T16:01:17.2050000Z</dcterms:modified>
</coreProperties>
</file>